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4" r:id="rId4"/>
    <p:sldMasterId id="2147483675" r:id="rId5"/>
    <p:sldMasterId id="21474836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2" Type="http://schemas.openxmlformats.org/officeDocument/2006/relationships/slide" Target="slides/slide5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8706d78a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8706d78a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8706d78a7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18706d78a7_1_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8706d78a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18706d78a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8706d78a7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8706d78a7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8706d78a7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8706d78a7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198344" y="155321"/>
            <a:ext cx="8747400" cy="4833000"/>
          </a:xfrm>
          <a:prstGeom prst="rect">
            <a:avLst/>
          </a:prstGeom>
          <a:gradFill>
            <a:gsLst>
              <a:gs pos="0">
                <a:srgbClr val="370000"/>
              </a:gs>
              <a:gs pos="5000">
                <a:srgbClr val="370000"/>
              </a:gs>
              <a:gs pos="76000">
                <a:srgbClr val="500000"/>
              </a:gs>
              <a:gs pos="100000">
                <a:srgbClr val="5000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198344" y="2028976"/>
            <a:ext cx="89100" cy="1028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8856502" y="2028976"/>
            <a:ext cx="89100" cy="1028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>
            <p:ph type="ctrTitle"/>
          </p:nvPr>
        </p:nvSpPr>
        <p:spPr>
          <a:xfrm>
            <a:off x="685800" y="2020492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1371600" y="3176543"/>
            <a:ext cx="64008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i="0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27728" y="530915"/>
            <a:ext cx="3088546" cy="725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82600" y="169433"/>
            <a:ext cx="57657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" y="1109133"/>
            <a:ext cx="8229600" cy="3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 rotWithShape="1">
          <a:blip r:embed="rId2">
            <a:alphaModFix/>
          </a:blip>
          <a:srcRect b="21050" l="0" r="10618" t="4957"/>
          <a:stretch/>
        </p:blipFill>
        <p:spPr>
          <a:xfrm>
            <a:off x="194953" y="156028"/>
            <a:ext cx="8754090" cy="483144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/>
          <p:nvPr/>
        </p:nvSpPr>
        <p:spPr>
          <a:xfrm>
            <a:off x="795353" y="1570075"/>
            <a:ext cx="7553400" cy="2003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795353" y="2057193"/>
            <a:ext cx="96000" cy="1028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8252636" y="2068667"/>
            <a:ext cx="96000" cy="1028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1124712" y="2154392"/>
            <a:ext cx="6894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600"/>
              <a:buFont typeface="Arial"/>
              <a:buNone/>
              <a:defRPr b="1" sz="2600">
                <a:solidFill>
                  <a:srgbClr val="5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/>
          <p:nvPr/>
        </p:nvSpPr>
        <p:spPr>
          <a:xfrm>
            <a:off x="3366341" y="1194968"/>
            <a:ext cx="2411400" cy="725100"/>
          </a:xfrm>
          <a:prstGeom prst="rect">
            <a:avLst/>
          </a:prstGeom>
          <a:gradFill>
            <a:gsLst>
              <a:gs pos="0">
                <a:srgbClr val="370000"/>
              </a:gs>
              <a:gs pos="5000">
                <a:srgbClr val="370000"/>
              </a:gs>
              <a:gs pos="76000">
                <a:srgbClr val="500000"/>
              </a:gs>
              <a:gs pos="100000">
                <a:srgbClr val="5000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6179" y="1313542"/>
            <a:ext cx="2111642" cy="49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722313" y="3305177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457200" y="7910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457200" y="1720517"/>
            <a:ext cx="4038600" cy="28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48200" y="1720517"/>
            <a:ext cx="4038600" cy="28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457200" y="72502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457200" y="1730324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457200" y="2210146"/>
            <a:ext cx="4040100" cy="23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7" name="Google Shape;87;p19"/>
          <p:cNvSpPr txBox="1"/>
          <p:nvPr>
            <p:ph idx="3" type="body"/>
          </p:nvPr>
        </p:nvSpPr>
        <p:spPr>
          <a:xfrm>
            <a:off x="4645033" y="1730324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4" type="body"/>
          </p:nvPr>
        </p:nvSpPr>
        <p:spPr>
          <a:xfrm>
            <a:off x="4645033" y="2210146"/>
            <a:ext cx="4041900" cy="23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457208" y="878306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3575050" y="878306"/>
            <a:ext cx="5111700" cy="3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457208" y="1804738"/>
            <a:ext cx="3008400" cy="27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1792288" y="3600452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2"/>
          <p:cNvSpPr/>
          <p:nvPr>
            <p:ph idx="2" type="pic"/>
          </p:nvPr>
        </p:nvSpPr>
        <p:spPr>
          <a:xfrm>
            <a:off x="1792288" y="830179"/>
            <a:ext cx="5486400" cy="27156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1792288" y="4025507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" type="subTitle"/>
          </p:nvPr>
        </p:nvSpPr>
        <p:spPr>
          <a:xfrm>
            <a:off x="3124200" y="2914650"/>
            <a:ext cx="5334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2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" type="body"/>
          </p:nvPr>
        </p:nvSpPr>
        <p:spPr>
          <a:xfrm>
            <a:off x="457200" y="1536953"/>
            <a:ext cx="8229600" cy="30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DLCOE_logo_HWHT.png" id="116" name="Google Shape;1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75610"/>
            <a:ext cx="1832900" cy="30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457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9" name="Google Shape;119;p26"/>
          <p:cNvSpPr txBox="1"/>
          <p:nvPr>
            <p:ph idx="2" type="body"/>
          </p:nvPr>
        </p:nvSpPr>
        <p:spPr>
          <a:xfrm>
            <a:off x="4648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0" name="Google Shape;120;p2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6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457200" y="217548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457200" y="800226"/>
            <a:ext cx="300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" type="body"/>
          </p:nvPr>
        </p:nvSpPr>
        <p:spPr>
          <a:xfrm>
            <a:off x="3575050" y="805290"/>
            <a:ext cx="51117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8"/>
          <p:cNvSpPr txBox="1"/>
          <p:nvPr>
            <p:ph idx="2" type="body"/>
          </p:nvPr>
        </p:nvSpPr>
        <p:spPr>
          <a:xfrm>
            <a:off x="457200" y="1352888"/>
            <a:ext cx="3008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>
            <p:ph type="title"/>
          </p:nvPr>
        </p:nvSpPr>
        <p:spPr>
          <a:xfrm>
            <a:off x="457200" y="897323"/>
            <a:ext cx="2573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9"/>
          <p:cNvSpPr/>
          <p:nvPr>
            <p:ph idx="2" type="pic"/>
          </p:nvPr>
        </p:nvSpPr>
        <p:spPr>
          <a:xfrm>
            <a:off x="3200400" y="897322"/>
            <a:ext cx="5486400" cy="3637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9"/>
          <p:cNvSpPr txBox="1"/>
          <p:nvPr>
            <p:ph idx="1" type="body"/>
          </p:nvPr>
        </p:nvSpPr>
        <p:spPr>
          <a:xfrm>
            <a:off x="457200" y="1326032"/>
            <a:ext cx="2573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20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73487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592125"/>
            <a:ext cx="8229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3" name="Google Shape;53;p13"/>
          <p:cNvCxnSpPr/>
          <p:nvPr/>
        </p:nvCxnSpPr>
        <p:spPr>
          <a:xfrm>
            <a:off x="209006" y="4931330"/>
            <a:ext cx="6993600" cy="0"/>
          </a:xfrm>
          <a:prstGeom prst="straightConnector1">
            <a:avLst/>
          </a:prstGeom>
          <a:noFill/>
          <a:ln cap="flat" cmpd="sng" w="12700">
            <a:solidFill>
              <a:srgbClr val="E4002B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54" name="Google Shape;54;p13"/>
          <p:cNvSpPr/>
          <p:nvPr/>
        </p:nvSpPr>
        <p:spPr>
          <a:xfrm>
            <a:off x="287866" y="173874"/>
            <a:ext cx="8568300" cy="694800"/>
          </a:xfrm>
          <a:prstGeom prst="rect">
            <a:avLst/>
          </a:prstGeom>
          <a:gradFill>
            <a:gsLst>
              <a:gs pos="0">
                <a:srgbClr val="370000"/>
              </a:gs>
              <a:gs pos="5000">
                <a:srgbClr val="370000"/>
              </a:gs>
              <a:gs pos="76000">
                <a:srgbClr val="500000"/>
              </a:gs>
              <a:gs pos="100000">
                <a:srgbClr val="5000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87867" y="302835"/>
            <a:ext cx="90600" cy="436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09004" y="4768619"/>
            <a:ext cx="6993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FOOTER INFO HERE – CHANGE ON MASTER SLIDE</a:t>
            </a:r>
            <a:endParaRPr sz="1100"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792685" y="302836"/>
            <a:ext cx="1894112" cy="44462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9.jp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482600" y="169425"/>
            <a:ext cx="6190500" cy="693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Push-To-Talk Communication System</a:t>
            </a:r>
            <a:endParaRPr sz="2500"/>
          </a:p>
        </p:txBody>
      </p:sp>
      <p:sp>
        <p:nvSpPr>
          <p:cNvPr id="148" name="Google Shape;148;p30"/>
          <p:cNvSpPr txBox="1"/>
          <p:nvPr>
            <p:ph idx="1" type="body"/>
          </p:nvPr>
        </p:nvSpPr>
        <p:spPr>
          <a:xfrm>
            <a:off x="545150" y="1168175"/>
            <a:ext cx="6065400" cy="3597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Key System Features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I2S Audio Buffer Software: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Manages audio data between the microphone, ADC, and DAC.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Ensures smooth real-time audio input and output without data loss or glitches.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I2C LCD Communication: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Enables status updates like "Transmitting..." or "Receiving #(LaunchPad ID)."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Efficiently handles data exchange with the 1602 LCD Display using a dedicated I2C bus.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Mono Line-In: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Captures voice input through the 3.5mm microphone jack.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Simplifies the audio pipeline while maintaining clarity for speech-focused applications.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Audio Sample Rates: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16 kHz:</a:t>
            </a:r>
            <a:r>
              <a:rPr lang="en" sz="1100"/>
              <a:t> Optimized for speech, providing efficient transmission and intelligibility with lower data rates. - Bitrate= 16khz x 16bits/s x 1 channel (mono) = 256kbps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8</a:t>
            </a:r>
            <a:r>
              <a:rPr b="1" lang="en" sz="1100"/>
              <a:t> kHz:</a:t>
            </a:r>
            <a:r>
              <a:rPr lang="en" sz="1100"/>
              <a:t> Bitrate= 8khz x 16bits/s x 1 channel (mono) = 128kbps which fits within Coles mesh transmission bitrate</a:t>
            </a:r>
            <a:endParaRPr sz="1100"/>
          </a:p>
        </p:txBody>
      </p:sp>
      <p:sp>
        <p:nvSpPr>
          <p:cNvPr id="149" name="Google Shape;149;p30"/>
          <p:cNvSpPr txBox="1"/>
          <p:nvPr/>
        </p:nvSpPr>
        <p:spPr>
          <a:xfrm>
            <a:off x="6610550" y="1366550"/>
            <a:ext cx="2341800" cy="2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Sample Rate Considerations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</a:rPr>
              <a:t>44.1 kHz Sample Rate:</a:t>
            </a:r>
            <a:r>
              <a:rPr lang="en" sz="900">
                <a:solidFill>
                  <a:schemeClr val="dk1"/>
                </a:solidFill>
              </a:rPr>
              <a:t> High-quality standard for music, capturing up to ~22 kHz frequencies, but requires higher bandwidth and processing, making it less efficient for voice-focused systems.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</a:rPr>
              <a:t>8 kHz Sample Rate:</a:t>
            </a:r>
            <a:r>
              <a:rPr lang="en" sz="900">
                <a:solidFill>
                  <a:schemeClr val="dk1"/>
                </a:solidFill>
              </a:rPr>
              <a:t> Optimized for speech, capturing up to ~8 kHz frequencies, offering lower data size and reduced processing demands while maintaining voice intelligibility.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</a:rPr>
              <a:t>Key Tradeoff:</a:t>
            </a:r>
            <a:r>
              <a:rPr lang="en" sz="900">
                <a:solidFill>
                  <a:schemeClr val="dk1"/>
                </a:solidFill>
              </a:rPr>
              <a:t> 16 kHz enables a lower bitrate for transmission, making it the best tradeoff for efficient voice communication over constrained networks.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>
            <p:ph type="title"/>
          </p:nvPr>
        </p:nvSpPr>
        <p:spPr>
          <a:xfrm>
            <a:off x="457200" y="70250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/>
              <a:t>Cole’s Subsystem - Rx/Tx via Mesh Network</a:t>
            </a:r>
            <a:endParaRPr/>
          </a:p>
        </p:txBody>
      </p:sp>
      <p:sp>
        <p:nvSpPr>
          <p:cNvPr id="155" name="Google Shape;155;p31"/>
          <p:cNvSpPr txBox="1"/>
          <p:nvPr>
            <p:ph idx="1" type="body"/>
          </p:nvPr>
        </p:nvSpPr>
        <p:spPr>
          <a:xfrm>
            <a:off x="620275" y="1160419"/>
            <a:ext cx="7991700" cy="3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Current set specifications: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Tx frequency @ 868 MHz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Currently transmitting at 50kbps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Rx filter BW @ 98KHz (may go up for audio)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Tx power @ 12dBm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Unknown Specifications: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Latency (thinking of building a timer into the code somehow?)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Dropped packets (will do some sort of calculation for how many characters (of one type) sent and how many (of that type) received)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Junsu</a:t>
            </a:r>
            <a:endParaRPr/>
          </a:p>
        </p:txBody>
      </p:sp>
      <p:pic>
        <p:nvPicPr>
          <p:cNvPr id="161" name="Google Shape;1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0" y="1389575"/>
            <a:ext cx="268605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9650" y="1767075"/>
            <a:ext cx="3989301" cy="25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3"/>
          <p:cNvSpPr txBox="1"/>
          <p:nvPr>
            <p:ph idx="1" type="body"/>
          </p:nvPr>
        </p:nvSpPr>
        <p:spPr>
          <a:xfrm>
            <a:off x="457200" y="1536953"/>
            <a:ext cx="8229600" cy="305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675" y="1148000"/>
            <a:ext cx="2340700" cy="312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3675" y="1148000"/>
            <a:ext cx="480060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125" y="1494300"/>
            <a:ext cx="2421750" cy="32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341000"/>
            <a:ext cx="2587350" cy="344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0075" y="1848200"/>
            <a:ext cx="3453924" cy="21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