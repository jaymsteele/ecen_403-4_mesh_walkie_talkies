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9144000"/>
  <p:notesSz cx="6858000" cy="9144000"/>
  <p:embeddedFontLst>
    <p:embeddedFont>
      <p:font typeface="Robo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4" roundtripDataSignature="AMtx7mjvdbSJOeTIqPNHVisPCV3QA1Uf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38F9E34-1BBB-44BD-BBA6-BCFD937002B1}">
  <a:tblStyle styleId="{138F9E34-1BBB-44BD-BBA6-BCFD937002B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11" Type="http://schemas.openxmlformats.org/officeDocument/2006/relationships/slide" Target="slides/slide5.xml"/><Relationship Id="rId22" Type="http://schemas.openxmlformats.org/officeDocument/2006/relationships/font" Target="fonts/Roboto-italic.fntdata"/><Relationship Id="rId10" Type="http://schemas.openxmlformats.org/officeDocument/2006/relationships/slide" Target="slides/slide4.xml"/><Relationship Id="rId21" Type="http://schemas.openxmlformats.org/officeDocument/2006/relationships/font" Target="fonts/Roboto-bold.fntdata"/><Relationship Id="rId13" Type="http://schemas.openxmlformats.org/officeDocument/2006/relationships/slide" Target="slides/slide7.xml"/><Relationship Id="rId24" Type="http://customschemas.google.com/relationships/presentationmetadata" Target="metadata"/><Relationship Id="rId12" Type="http://schemas.openxmlformats.org/officeDocument/2006/relationships/slide" Target="slides/slide6.xml"/><Relationship Id="rId23" Type="http://schemas.openxmlformats.org/officeDocument/2006/relationships/font" Target="fonts/Robo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07a5a21633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07a5a2163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0773149b61_4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0773149b61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0773149b61_2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0773149b61_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0773149b61_2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0773149b61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0773149b6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0773149b6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3969582" y="2130425"/>
            <a:ext cx="4488617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3124200" y="3886200"/>
            <a:ext cx="5333999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457200" y="2049270"/>
            <a:ext cx="8229600" cy="40768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DLCOE_logo_HWHT.png" id="23" name="Google Shape;2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851" y="234146"/>
            <a:ext cx="2443865" cy="41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457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6" name="Google Shape;26;p12"/>
          <p:cNvSpPr txBox="1"/>
          <p:nvPr>
            <p:ph idx="2" type="body"/>
          </p:nvPr>
        </p:nvSpPr>
        <p:spPr>
          <a:xfrm>
            <a:off x="4648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7" name="Google Shape;2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" name="Google Shape;30;p12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/>
          <p:nvPr>
            <p:ph type="title"/>
          </p:nvPr>
        </p:nvSpPr>
        <p:spPr>
          <a:xfrm>
            <a:off x="457200" y="290064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457200" y="1066968"/>
            <a:ext cx="3008313" cy="7368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3575050" y="1073720"/>
            <a:ext cx="5111750" cy="505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1" sz="28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457200" y="1803850"/>
            <a:ext cx="3008313" cy="4322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0" name="Google Shape;4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5"/>
          <p:cNvSpPr txBox="1"/>
          <p:nvPr>
            <p:ph type="title"/>
          </p:nvPr>
        </p:nvSpPr>
        <p:spPr>
          <a:xfrm>
            <a:off x="457200" y="1196430"/>
            <a:ext cx="2573672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5"/>
          <p:cNvSpPr/>
          <p:nvPr>
            <p:ph idx="2" type="pic"/>
          </p:nvPr>
        </p:nvSpPr>
        <p:spPr>
          <a:xfrm>
            <a:off x="3200400" y="1196430"/>
            <a:ext cx="5486400" cy="4850287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15"/>
          <p:cNvSpPr txBox="1"/>
          <p:nvPr>
            <p:ph idx="1" type="body"/>
          </p:nvPr>
        </p:nvSpPr>
        <p:spPr>
          <a:xfrm>
            <a:off x="457200" y="1768043"/>
            <a:ext cx="2573672" cy="42786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1619250" y="4244975"/>
            <a:ext cx="7302600" cy="160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40"/>
              <a:buFont typeface="Arial"/>
              <a:buNone/>
            </a:pPr>
            <a:r>
              <a:rPr lang="en-US" sz="3040"/>
              <a:t>Project name: Mesh Walkie Talkies</a:t>
            </a:r>
            <a:br>
              <a:rPr lang="en-US" sz="3040"/>
            </a:br>
            <a:r>
              <a:rPr lang="en-US" sz="3040"/>
              <a:t>Team members: Cole Cieslewicz, </a:t>
            </a:r>
            <a:br>
              <a:rPr lang="en-US" sz="3040"/>
            </a:br>
            <a:r>
              <a:rPr lang="en-US" sz="3040"/>
              <a:t>Ryan Haag, Jaiah Steele, Junsu Yeo</a:t>
            </a:r>
            <a:endParaRPr sz="304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40"/>
              <a:buFont typeface="Arial"/>
              <a:buNone/>
            </a:pPr>
            <a:r>
              <a:rPr lang="en-US" sz="3040"/>
              <a:t>Project sponsor: Giuseppe Rizzi (TI)</a:t>
            </a:r>
            <a:endParaRPr sz="3040"/>
          </a:p>
        </p:txBody>
      </p:sp>
      <p:sp>
        <p:nvSpPr>
          <p:cNvPr id="55" name="Google Shape;55;p1"/>
          <p:cNvSpPr/>
          <p:nvPr/>
        </p:nvSpPr>
        <p:spPr>
          <a:xfrm>
            <a:off x="0" y="0"/>
            <a:ext cx="6111300" cy="6111300"/>
          </a:xfrm>
          <a:prstGeom prst="diagStripe">
            <a:avLst>
              <a:gd fmla="val 28990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193675" rotWithShape="0" dir="5400000" dist="230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LCOE_logo_HWHT.png" id="56" name="Google Shape;5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4000" y="1105318"/>
            <a:ext cx="3114199" cy="525774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"/>
          <p:cNvSpPr txBox="1"/>
          <p:nvPr/>
        </p:nvSpPr>
        <p:spPr>
          <a:xfrm>
            <a:off x="4889050" y="2180650"/>
            <a:ext cx="4288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</a:rPr>
              <a:t>ECEN 403</a:t>
            </a:r>
            <a:endParaRPr b="1" sz="3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Project description </a:t>
            </a:r>
            <a:endParaRPr/>
          </a:p>
        </p:txBody>
      </p:sp>
      <p:sp>
        <p:nvSpPr>
          <p:cNvPr id="63" name="Google Shape;63;p2"/>
          <p:cNvSpPr txBox="1"/>
          <p:nvPr>
            <p:ph idx="1" type="body"/>
          </p:nvPr>
        </p:nvSpPr>
        <p:spPr>
          <a:xfrm>
            <a:off x="457200" y="1810045"/>
            <a:ext cx="8229600" cy="46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6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Problem statement: Current conventional walkie-talkies face limitations in range and connectivity, which often requires users to be within a fixed distance to maintain clear communication. This restriction can hinder effective communication in scenarios like search and rescue, outdoor activities, or team coordination in large areas.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4" name="Google Shape;6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9863" y="3688175"/>
            <a:ext cx="2824274" cy="2824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Project description</a:t>
            </a:r>
            <a:endParaRPr/>
          </a:p>
        </p:txBody>
      </p:sp>
      <p:sp>
        <p:nvSpPr>
          <p:cNvPr id="70" name="Google Shape;70;p3"/>
          <p:cNvSpPr txBox="1"/>
          <p:nvPr>
            <p:ph idx="1" type="body"/>
          </p:nvPr>
        </p:nvSpPr>
        <p:spPr>
          <a:xfrm>
            <a:off x="457200" y="2049270"/>
            <a:ext cx="8229600" cy="463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6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Solution proposal: </a:t>
            </a:r>
            <a:r>
              <a:rPr lang="en-US" sz="2000"/>
              <a:t>Build a set of wireless battery-powered walkie talkies that transmit/receive low latency audio between all devices using a connected mesh network to, when needed, relay the signal between devices that are too far apart to otherwise communicate.</a:t>
            </a:r>
            <a:endParaRPr sz="2000"/>
          </a:p>
        </p:txBody>
      </p:sp>
      <p:pic>
        <p:nvPicPr>
          <p:cNvPr id="71" name="Google Shape;71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7038" y="3429000"/>
            <a:ext cx="3209925" cy="267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07a5a21633_0_1"/>
          <p:cNvSpPr txBox="1"/>
          <p:nvPr>
            <p:ph type="title"/>
          </p:nvPr>
        </p:nvSpPr>
        <p:spPr>
          <a:xfrm>
            <a:off x="546900" y="959477"/>
            <a:ext cx="8229600" cy="80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Texas Instruments CC1354P10</a:t>
            </a:r>
            <a:endParaRPr/>
          </a:p>
        </p:txBody>
      </p:sp>
      <p:sp>
        <p:nvSpPr>
          <p:cNvPr id="77" name="Google Shape;77;g307a5a21633_0_1"/>
          <p:cNvSpPr txBox="1"/>
          <p:nvPr>
            <p:ph idx="1" type="body"/>
          </p:nvPr>
        </p:nvSpPr>
        <p:spPr>
          <a:xfrm>
            <a:off x="397400" y="2049300"/>
            <a:ext cx="5812800" cy="4077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150"/>
              <a:t>The device is optimized for low-power wireless communications, with on-chip over-the-air (OAD) update capability. It enables long range and reliable communication in building security systems, HVAC, smart meters, medical, wired networking, portable electronics, home theater &amp; entertainment, and connected peripherals markets.</a:t>
            </a:r>
            <a:endParaRPr sz="215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000"/>
              <a:t>The CC1354P10 device is part of the SimpleLink™ MCU platform, which consists of Wi-Fi®, Bluetooth Low Energy, Thread, Zigbee, Sub-1 GHz MCUs.</a:t>
            </a:r>
            <a:endParaRPr sz="2000"/>
          </a:p>
        </p:txBody>
      </p:sp>
      <p:sp>
        <p:nvSpPr>
          <p:cNvPr id="78" name="Google Shape;78;g307a5a21633_0_1"/>
          <p:cNvSpPr txBox="1"/>
          <p:nvPr/>
        </p:nvSpPr>
        <p:spPr>
          <a:xfrm>
            <a:off x="546900" y="1364550"/>
            <a:ext cx="85758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High-Performance Multi-band Wireless MCU With Integrated Power Amplifier</a:t>
            </a:r>
            <a:r>
              <a:rPr lang="en-US" sz="2800">
                <a:solidFill>
                  <a:schemeClr val="dk1"/>
                </a:solidFill>
              </a:rPr>
              <a:t> </a:t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79" name="Google Shape;79;g307a5a21633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0200" y="2723002"/>
            <a:ext cx="2629002" cy="2220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Subsystem Breakdown</a:t>
            </a:r>
            <a:endParaRPr/>
          </a:p>
        </p:txBody>
      </p:sp>
      <p:sp>
        <p:nvSpPr>
          <p:cNvPr id="85" name="Google Shape;85;p4"/>
          <p:cNvSpPr txBox="1"/>
          <p:nvPr>
            <p:ph idx="1" type="body"/>
          </p:nvPr>
        </p:nvSpPr>
        <p:spPr>
          <a:xfrm>
            <a:off x="457200" y="5063722"/>
            <a:ext cx="8229600" cy="12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1800">
                <a:solidFill>
                  <a:srgbClr val="0B5394"/>
                </a:solidFill>
              </a:rPr>
              <a:t>Blue: Ryan Haag</a:t>
            </a:r>
            <a:r>
              <a:rPr lang="en-US" sz="1800">
                <a:solidFill>
                  <a:srgbClr val="0000FF"/>
                </a:solidFill>
              </a:rPr>
              <a:t> </a:t>
            </a:r>
            <a:br>
              <a:rPr lang="en-US" sz="1800"/>
            </a:br>
            <a:r>
              <a:rPr lang="en-US" sz="1800">
                <a:solidFill>
                  <a:srgbClr val="38761D"/>
                </a:solidFill>
              </a:rPr>
              <a:t>Green: Jaiah Steele</a:t>
            </a:r>
            <a:endParaRPr sz="18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1800">
                <a:solidFill>
                  <a:srgbClr val="CC0000"/>
                </a:solidFill>
              </a:rPr>
              <a:t>Red: Cole Cieslewicz</a:t>
            </a:r>
            <a:endParaRPr sz="1800">
              <a:solidFill>
                <a:srgbClr val="CC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1800">
                <a:solidFill>
                  <a:srgbClr val="BF9000"/>
                </a:solidFill>
              </a:rPr>
              <a:t>Yellow: Junsu Yeo</a:t>
            </a:r>
            <a:endParaRPr sz="1800">
              <a:solidFill>
                <a:srgbClr val="BF9000"/>
              </a:solidFill>
            </a:endParaRPr>
          </a:p>
        </p:txBody>
      </p:sp>
      <p:pic>
        <p:nvPicPr>
          <p:cNvPr id="86" name="Google Shape;86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050" y="2009775"/>
            <a:ext cx="8343900" cy="283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0773149b61_4_0"/>
          <p:cNvSpPr txBox="1"/>
          <p:nvPr>
            <p:ph type="title"/>
          </p:nvPr>
        </p:nvSpPr>
        <p:spPr>
          <a:xfrm>
            <a:off x="513400" y="1818150"/>
            <a:ext cx="2432400" cy="3221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Technical System Breakdown</a:t>
            </a:r>
            <a:endParaRPr/>
          </a:p>
        </p:txBody>
      </p:sp>
      <p:sp>
        <p:nvSpPr>
          <p:cNvPr id="92" name="Google Shape;92;g30773149b61_4_0"/>
          <p:cNvSpPr txBox="1"/>
          <p:nvPr>
            <p:ph idx="1" type="body"/>
          </p:nvPr>
        </p:nvSpPr>
        <p:spPr>
          <a:xfrm>
            <a:off x="457200" y="5063722"/>
            <a:ext cx="8229600" cy="12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1800">
                <a:solidFill>
                  <a:srgbClr val="0B5394"/>
                </a:solidFill>
              </a:rPr>
              <a:t>Blue: Ryan Haag</a:t>
            </a:r>
            <a:r>
              <a:rPr lang="en-US" sz="1800">
                <a:solidFill>
                  <a:srgbClr val="0000FF"/>
                </a:solidFill>
              </a:rPr>
              <a:t> </a:t>
            </a:r>
            <a:br>
              <a:rPr lang="en-US" sz="1800"/>
            </a:br>
            <a:r>
              <a:rPr lang="en-US" sz="1800">
                <a:solidFill>
                  <a:srgbClr val="38761D"/>
                </a:solidFill>
              </a:rPr>
              <a:t>Green: Jaiah Steele</a:t>
            </a:r>
            <a:endParaRPr sz="18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1800">
                <a:solidFill>
                  <a:srgbClr val="CC0000"/>
                </a:solidFill>
              </a:rPr>
              <a:t>Red: Cole Cieslewicz</a:t>
            </a:r>
            <a:endParaRPr sz="1800">
              <a:solidFill>
                <a:srgbClr val="CC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1800">
                <a:solidFill>
                  <a:srgbClr val="BF9000"/>
                </a:solidFill>
              </a:rPr>
              <a:t>Yellow: Junsu Yeo</a:t>
            </a:r>
            <a:endParaRPr sz="1800">
              <a:solidFill>
                <a:srgbClr val="BF9000"/>
              </a:solidFill>
            </a:endParaRPr>
          </a:p>
        </p:txBody>
      </p:sp>
      <p:pic>
        <p:nvPicPr>
          <p:cNvPr id="93" name="Google Shape;93;g30773149b61_4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9000" y="1113800"/>
            <a:ext cx="4737801" cy="502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Task partition</a:t>
            </a:r>
            <a:endParaRPr/>
          </a:p>
        </p:txBody>
      </p:sp>
      <p:sp>
        <p:nvSpPr>
          <p:cNvPr id="99" name="Google Shape;99;p5"/>
          <p:cNvSpPr txBox="1"/>
          <p:nvPr>
            <p:ph idx="1" type="body"/>
          </p:nvPr>
        </p:nvSpPr>
        <p:spPr>
          <a:xfrm>
            <a:off x="457200" y="2049270"/>
            <a:ext cx="8229600" cy="463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6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Jaiah</a:t>
            </a:r>
            <a:r>
              <a:rPr lang="en-US" sz="2000"/>
              <a:t>: Develop Push-To-Talk button with LCD as well as implement the Opus Codec to compress digital audio to enable packetization to be sent via Wi-Sun.</a:t>
            </a:r>
            <a:endParaRPr sz="2000"/>
          </a:p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Junsu: Voltage stepping to ensure the MCU, peripherals, and other components are receiving the appropriate power that it needs. Recharging a Single Cell LiPo Battery with a charging IC as well as proper Battery Protection IC.</a:t>
            </a:r>
            <a:endParaRPr sz="2000"/>
          </a:p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Ryan: Ensure the microphone and speaker work properly with the MCU’s DAC and ADC. </a:t>
            </a:r>
            <a:r>
              <a:rPr lang="en-US" sz="2000"/>
              <a:t>Design the </a:t>
            </a:r>
            <a:r>
              <a:rPr lang="en-US" sz="2000"/>
              <a:t>PCB that </a:t>
            </a:r>
            <a:r>
              <a:rPr lang="en-US" sz="2000"/>
              <a:t>consists</a:t>
            </a:r>
            <a:r>
              <a:rPr lang="en-US" sz="2000"/>
              <a:t> of the MCU, </a:t>
            </a:r>
            <a:r>
              <a:rPr lang="en-US" sz="2000"/>
              <a:t>peripherals</a:t>
            </a:r>
            <a:r>
              <a:rPr lang="en-US" sz="2000"/>
              <a:t>, and other components.</a:t>
            </a:r>
            <a:endParaRPr sz="2000"/>
          </a:p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Cole: Work with the MCU to ensure instant communication; implement the mesh network between devices, which includes sending and receiving data packets simultaneously.</a:t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Subsystem progress in past 1.5 months</a:t>
            </a:r>
            <a:endParaRPr/>
          </a:p>
        </p:txBody>
      </p:sp>
      <p:sp>
        <p:nvSpPr>
          <p:cNvPr id="105" name="Google Shape;105;p6"/>
          <p:cNvSpPr txBox="1"/>
          <p:nvPr>
            <p:ph idx="1" type="body"/>
          </p:nvPr>
        </p:nvSpPr>
        <p:spPr>
          <a:xfrm>
            <a:off x="457200" y="2049270"/>
            <a:ext cx="8229600" cy="463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Junsu: Finished the subsystem introduction project. Bought a 3.7V 2500mAh LiPo Battery capable of running the walkie talkie for over 24 hours. Researched the tradeoffs for different charging and battery protection ICs. Began creating schematics on Altium. </a:t>
            </a:r>
            <a:endParaRPr sz="2000"/>
          </a:p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Ryan: Finished the Subsystem </a:t>
            </a:r>
            <a:r>
              <a:rPr lang="en-US" sz="2000"/>
              <a:t>Introduction</a:t>
            </a:r>
            <a:r>
              <a:rPr lang="en-US" sz="2000"/>
              <a:t> Project. Researched and purchased a microphone and speaker for walkie talkie. </a:t>
            </a:r>
            <a:r>
              <a:rPr lang="en-US" sz="2000"/>
              <a:t>Beginning</a:t>
            </a:r>
            <a:r>
              <a:rPr lang="en-US" sz="2000"/>
              <a:t> the design of </a:t>
            </a:r>
            <a:r>
              <a:rPr lang="en-US" sz="2000"/>
              <a:t>the</a:t>
            </a:r>
            <a:r>
              <a:rPr lang="en-US" sz="2000"/>
              <a:t> PCB and </a:t>
            </a:r>
            <a:r>
              <a:rPr lang="en-US" sz="2000"/>
              <a:t>determining the amplification of microphone and speaker.</a:t>
            </a:r>
            <a:endParaRPr sz="2000"/>
          </a:p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Jaiah: Finished subsystem introduction project. Started development on LCD’s and downloaded Opus Codec into Code Composer Studio. </a:t>
            </a:r>
            <a:endParaRPr sz="2000"/>
          </a:p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Cole: Nearly finished subsystem introduction project. Now getting multiple MCUs to communicate with each other (send small packets back &amp; forth) via UART, before moving on to the Wi-SUN protocol.</a:t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0773149b61_2_2"/>
          <p:cNvSpPr txBox="1"/>
          <p:nvPr>
            <p:ph type="title"/>
          </p:nvPr>
        </p:nvSpPr>
        <p:spPr>
          <a:xfrm>
            <a:off x="457200" y="929552"/>
            <a:ext cx="8229600" cy="80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Design Considerations</a:t>
            </a:r>
            <a:endParaRPr/>
          </a:p>
        </p:txBody>
      </p:sp>
      <p:graphicFrame>
        <p:nvGraphicFramePr>
          <p:cNvPr id="111" name="Google Shape;111;g30773149b61_2_2"/>
          <p:cNvGraphicFramePr/>
          <p:nvPr/>
        </p:nvGraphicFramePr>
        <p:xfrm>
          <a:off x="412088" y="1733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{138F9E34-1BBB-44BD-BBA6-BCFD937002B1}</a:tableStyleId>
              </a:tblPr>
              <a:tblGrid>
                <a:gridCol w="1405525"/>
                <a:gridCol w="1707000"/>
                <a:gridCol w="2051675"/>
                <a:gridCol w="1491650"/>
                <a:gridCol w="1663975"/>
              </a:tblGrid>
              <a:tr h="49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Item Utilized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Purpose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Pros 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Cons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Alternatives </a:t>
                      </a:r>
                      <a:r>
                        <a:rPr lang="en-US" sz="1100"/>
                        <a:t>Considered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1030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0F1111"/>
                          </a:solidFill>
                        </a:rPr>
                        <a:t>Wi-SUN</a:t>
                      </a:r>
                      <a:endParaRPr sz="1100">
                        <a:solidFill>
                          <a:srgbClr val="0F111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Mesh networking capabilities required for devices to function as desired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US" sz="1100"/>
                        <a:t>Mesh-first</a:t>
                      </a:r>
                      <a:endParaRPr sz="1100"/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US" sz="1100"/>
                        <a:t>Large range</a:t>
                      </a:r>
                      <a:endParaRPr sz="1100"/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US" sz="1100"/>
                        <a:t>TI-compatible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US" sz="1100"/>
                        <a:t>Less mature in consumer market</a:t>
                      </a:r>
                      <a:endParaRPr sz="1100"/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US" sz="1100"/>
                        <a:t>Low data rate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Zigbee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Thread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Bluetooth Mesh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434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rgbClr val="0F1111"/>
                          </a:solidFill>
                        </a:rPr>
                        <a:t>GeeekPi 2-Pack I2C 1602 LCD Display Module 16X2</a:t>
                      </a:r>
                      <a:endParaRPr sz="1100">
                        <a:solidFill>
                          <a:srgbClr val="0F111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User interface display to show when the walkie is on, transmitting, and receiving as well as who it is receiving from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Cost</a:t>
                      </a:r>
                      <a:endParaRPr sz="1100"/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111"/>
                        </a:buClr>
                        <a:buSzPts val="1100"/>
                        <a:buChar char="●"/>
                      </a:pPr>
                      <a:r>
                        <a:rPr lang="en-US" sz="1100">
                          <a:solidFill>
                            <a:srgbClr val="0F1111"/>
                          </a:solidFill>
                        </a:rPr>
                        <a:t>i2c protocol interface to reduce the occupation of I/O ports</a:t>
                      </a:r>
                      <a:endParaRPr sz="1100">
                        <a:solidFill>
                          <a:srgbClr val="0F1111"/>
                        </a:solidFill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111"/>
                        </a:buClr>
                        <a:buSzPts val="1100"/>
                        <a:buChar char="●"/>
                      </a:pPr>
                      <a:r>
                        <a:rPr lang="en-US" sz="1100">
                          <a:solidFill>
                            <a:srgbClr val="0F1111"/>
                          </a:solidFill>
                        </a:rPr>
                        <a:t>Two rows for displaying data</a:t>
                      </a:r>
                      <a:endParaRPr sz="1100">
                        <a:solidFill>
                          <a:srgbClr val="0F111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Uses arduino software library; must be adapted to CCS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900">
                          <a:solidFill>
                            <a:srgbClr val="444444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NHD-0116AZ-RN-GBW-ND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1903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Opus Codec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Used to ensure that the audio packets are small enough to be sent efficiently within the bandwidth limitations of the Wi-SUN protocol.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O</a:t>
                      </a:r>
                      <a:r>
                        <a:rPr lang="en-US" sz="1100"/>
                        <a:t>ptimized for Low-latency and real time applications</a:t>
                      </a:r>
                      <a:endParaRPr sz="1100"/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Good audio quality even at low </a:t>
                      </a:r>
                      <a:r>
                        <a:rPr lang="en-US" sz="1100"/>
                        <a:t>bitrates</a:t>
                      </a:r>
                      <a:endParaRPr sz="1100"/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Adaptive for network conditions</a:t>
                      </a:r>
                      <a:endParaRPr sz="1100"/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Open source</a:t>
                      </a:r>
                      <a:endParaRPr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Higher complexity, more processing power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Speex</a:t>
                      </a:r>
                      <a:endParaRPr sz="1100"/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G.729</a:t>
                      </a:r>
                      <a:endParaRPr sz="1100"/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AAC</a:t>
                      </a:r>
                      <a:endParaRPr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0773149b61_2_8"/>
          <p:cNvSpPr txBox="1"/>
          <p:nvPr>
            <p:ph type="title"/>
          </p:nvPr>
        </p:nvSpPr>
        <p:spPr>
          <a:xfrm>
            <a:off x="457200" y="927427"/>
            <a:ext cx="8229600" cy="80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Design Considerations</a:t>
            </a:r>
            <a:endParaRPr/>
          </a:p>
        </p:txBody>
      </p:sp>
      <p:graphicFrame>
        <p:nvGraphicFramePr>
          <p:cNvPr id="117" name="Google Shape;117;g30773149b61_2_8"/>
          <p:cNvGraphicFramePr/>
          <p:nvPr/>
        </p:nvGraphicFramePr>
        <p:xfrm>
          <a:off x="671425" y="1731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{138F9E34-1BBB-44BD-BBA6-BCFD937002B1}</a:tableStyleId>
              </a:tblPr>
              <a:tblGrid>
                <a:gridCol w="1556475"/>
                <a:gridCol w="1351975"/>
                <a:gridCol w="1760975"/>
                <a:gridCol w="1556475"/>
                <a:gridCol w="1556475"/>
              </a:tblGrid>
              <a:tr h="519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Item Utilized</a:t>
                      </a:r>
                      <a:endParaRPr sz="11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Part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Pros 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Cons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Alternatives Considered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68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SPH11C3LR5H-1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Microphone</a:t>
                      </a:r>
                      <a:endParaRPr sz="11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32 Hz ~ 20 kHz </a:t>
                      </a:r>
                      <a:endParaRPr sz="1100"/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68.5dB S/N Ratio</a:t>
                      </a:r>
                      <a:endParaRPr sz="1100"/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Omnidirectional</a:t>
                      </a:r>
                      <a:endParaRPr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Has a high sensitivity</a:t>
                      </a:r>
                      <a:endParaRPr sz="11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SPH0641LU4H-1</a:t>
                      </a:r>
                      <a:endParaRPr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106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K 50 FL - 8 OHM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Speaker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Low impedance</a:t>
                      </a:r>
                      <a:endParaRPr sz="1100"/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Large diameter</a:t>
                      </a:r>
                      <a:endParaRPr sz="1100"/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Low power usage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Lower dBA </a:t>
                      </a:r>
                      <a:r>
                        <a:rPr lang="en-US" sz="1100"/>
                        <a:t>efficiency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SP520104-1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GF057	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19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BQ25628E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Charging IC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2A Charging Current</a:t>
                      </a:r>
                      <a:endParaRPr sz="1100"/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USBC </a:t>
                      </a:r>
                      <a:endParaRPr sz="1100"/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Buck Converter</a:t>
                      </a:r>
                      <a:endParaRPr sz="1100"/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CC/CV</a:t>
                      </a:r>
                      <a:endParaRPr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No Fuel Gauge (SoC)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BQ24075T</a:t>
                      </a:r>
                      <a:endParaRPr sz="1100"/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TP4056</a:t>
                      </a:r>
                      <a:endParaRPr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Both do not support USBC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119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BQ27Z746YAHR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Battery Protection IC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OVP 4.2V</a:t>
                      </a:r>
                      <a:endParaRPr sz="1100"/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UVP 3V</a:t>
                      </a:r>
                      <a:endParaRPr sz="1100"/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OCC </a:t>
                      </a:r>
                      <a:endParaRPr sz="1100"/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OCD </a:t>
                      </a:r>
                      <a:endParaRPr sz="1100"/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OT 45℃</a:t>
                      </a:r>
                      <a:endParaRPr sz="1100"/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Fuel Gauge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Very complex design</a:t>
                      </a:r>
                      <a:endParaRPr sz="1100"/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Lots of components</a:t>
                      </a:r>
                      <a:endParaRPr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BQ29705</a:t>
                      </a:r>
                      <a:endParaRPr sz="1100"/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No thermal protection</a:t>
                      </a:r>
                      <a:endParaRPr sz="1100"/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BQ298218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Factory set values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Execution Plan</a:t>
            </a:r>
            <a:endParaRPr/>
          </a:p>
        </p:txBody>
      </p:sp>
      <p:pic>
        <p:nvPicPr>
          <p:cNvPr id="123" name="Google Shape;123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7740" y="1852925"/>
            <a:ext cx="6908521" cy="472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0773149b61_0_0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Execution Plan</a:t>
            </a:r>
            <a:endParaRPr/>
          </a:p>
        </p:txBody>
      </p:sp>
      <p:pic>
        <p:nvPicPr>
          <p:cNvPr id="129" name="Google Shape;129;g30773149b61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5277"/>
            <a:ext cx="8839204" cy="38369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 txBox="1"/>
          <p:nvPr>
            <p:ph type="title"/>
          </p:nvPr>
        </p:nvSpPr>
        <p:spPr>
          <a:xfrm>
            <a:off x="457200" y="753902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Validation plan</a:t>
            </a:r>
            <a:endParaRPr/>
          </a:p>
        </p:txBody>
      </p:sp>
      <p:graphicFrame>
        <p:nvGraphicFramePr>
          <p:cNvPr id="135" name="Google Shape;135;p8"/>
          <p:cNvGraphicFramePr/>
          <p:nvPr/>
        </p:nvGraphicFramePr>
        <p:xfrm>
          <a:off x="84775" y="1557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{138F9E34-1BBB-44BD-BBA6-BCFD937002B1}</a:tableStyleId>
              </a:tblPr>
              <a:tblGrid>
                <a:gridCol w="1712675"/>
                <a:gridCol w="2407475"/>
                <a:gridCol w="3074725"/>
                <a:gridCol w="953850"/>
                <a:gridCol w="762425"/>
              </a:tblGrid>
              <a:tr h="616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/>
                        <a:t>Task</a:t>
                      </a:r>
                      <a:endParaRPr b="1" sz="9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/>
                        <a:t>Specification</a:t>
                      </a:r>
                      <a:endParaRPr b="1" sz="9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/>
                        <a:t>Result</a:t>
                      </a:r>
                      <a:endParaRPr b="1" sz="9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/>
                        <a:t>Status</a:t>
                      </a:r>
                      <a:endParaRPr b="1" sz="9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/>
                        <a:t>Owner</a:t>
                      </a:r>
                      <a:endParaRPr b="1" sz="9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499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Battery Life Validation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Walkie Talkie operates for at least 24 hours on a rechargeable lithium battery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Battery operates for 24 hours under normal usage conditions.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UNTESTED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Junsu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545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Power Modes Validation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MCU implements active, standby, and shutdown modes.</a:t>
                      </a:r>
                      <a:endParaRPr sz="9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Standby mode enters when idle.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MCU successfully enters standby mode when not in use.</a:t>
                      </a:r>
                      <a:endParaRPr sz="9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Power usage is minimized in standby.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UNTESTED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Junsu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551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PCB-Power Distribution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PCB delivers appropriate power to each component (push-to-talk button, LED display, microphone, etc.).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Components receive correct voltage and current for operation.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UNTESTED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Ryan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444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Audio Input/Output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Microphone inputs audio, speaker outputs audio with clear and understandable quality.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Audio is recorded and played back through the speaker with minimal distortion.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UNTESTED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Ryan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559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Mesh Network Data Transmission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Transmit and receive equivalent-sized non-voice data packets between mesh devices.</a:t>
                      </a:r>
                      <a:endParaRPr sz="9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Latency &lt;200ms.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 packets transmitted and received between devices with &lt;200ms latency.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UNTESTED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Cole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405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Long Distance Mesh Relay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Devices should relay communication to increase effective range (&gt;100m).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Communication relays over a mesh network to extend range beyond 100m.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UNTESTED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Cole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421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Push-to-talk Functionality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LCD displays which device is talking, identified by unique MCU number.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LCD correctly shows the active talker’s ID during transmission.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UNTESTED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Jaiah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520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Audio Compression (Opus Codec)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Compress digital audio using Opus Codec, ensuring understandable quality.</a:t>
                      </a:r>
                      <a:endParaRPr sz="9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Packet size &lt; Wi-SUN limits.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Audio is compressed, within Wi-SUN packet size and bandwidth constraints.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UNTESTED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Jaiah</a:t>
                      </a:r>
                      <a:endParaRPr sz="9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2013-06-18T16:37:55Z</dcterms:created>
  <dc:creator>Brian Gardner</dc:creator>
</cp:coreProperties>
</file>