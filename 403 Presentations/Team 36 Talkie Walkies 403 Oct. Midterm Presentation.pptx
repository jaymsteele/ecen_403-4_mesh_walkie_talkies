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DHQw7at22bXxjRuCMD4He5eyn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F102D2-47E2-463E-BE8B-5E30D3D8CCB6}">
  <a:tblStyle styleId="{6EF102D2-47E2-463E-BE8B-5E30D3D8CCB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ef117618c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ef117618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ef117618c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2fef117618c_1_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effb2d49d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effb2d49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2feffb2d49d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effb2d49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feffb2d4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2feffb2d49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ef117618c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2fef117618c_1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ef117618c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2fef117618c_1_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de16ce8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0de16ce80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effb2d49d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feffb2d49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2feffb2d49d_0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feffb2d49d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feffb2d49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feffb2d49d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de182f5b2_3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0de182f5b2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0de182f5b2_3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de182f5b2_3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0de182f5b2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0de182f5b2_3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vGpJBR1yo3bU5Xeo9ErPO9y0XMNTACfK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3610625"/>
            <a:ext cx="7302600" cy="29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40"/>
              <a:buFont typeface="Arial"/>
              <a:buNone/>
            </a:pPr>
            <a:r>
              <a:rPr lang="en-US" sz="3040"/>
              <a:t>Project name: Mesh Walkie Talkies</a:t>
            </a:r>
            <a:br>
              <a:rPr lang="en-US" sz="3040"/>
            </a:br>
            <a:r>
              <a:rPr lang="en-US" sz="3040"/>
              <a:t>Team members: Cole Cieslewicz, </a:t>
            </a:r>
            <a:br>
              <a:rPr lang="en-US" sz="3040"/>
            </a:br>
            <a:r>
              <a:rPr lang="en-US" sz="3040"/>
              <a:t>Ryan Haag, Jaiah Steele, Junsu Yeo</a:t>
            </a:r>
            <a:endParaRPr sz="304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40"/>
              <a:buFont typeface="Arial"/>
              <a:buNone/>
            </a:pPr>
            <a:r>
              <a:rPr lang="en-US" sz="3040"/>
              <a:t>Project sponsor: Giuseppe Rizzi (TI)</a:t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4889050" y="2180650"/>
            <a:ext cx="4288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</a:rPr>
              <a:t>ECEN 403</a:t>
            </a:r>
            <a:endParaRPr b="1" sz="3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457200" y="12001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description</a:t>
            </a:r>
            <a:endParaRPr/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457200" y="2491375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Problem statement: Conventional walkie-talkies face range limitations, requiring users to be within a fixed distance to maintain clear communication. This restricts operation in scenarios such as search and rescue, outdoor activities, or team coordination in large areas.</a:t>
            </a:r>
            <a:endParaRPr sz="2800"/>
          </a:p>
        </p:txBody>
      </p:sp>
      <p:pic>
        <p:nvPicPr>
          <p:cNvPr id="68" name="Google Shape;6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9525" y="414525"/>
            <a:ext cx="1807276" cy="180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description</a:t>
            </a:r>
            <a:endParaRPr/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457200" y="2049270"/>
            <a:ext cx="8229600" cy="463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Solution proposal: Build a set of wireless, battery-powered walkie talkies that transmit/receive low latency audio between all devices using a connected mesh network to</a:t>
            </a:r>
            <a:r>
              <a:rPr lang="en-US" sz="2800"/>
              <a:t>, when needed,</a:t>
            </a:r>
            <a:r>
              <a:rPr lang="en-US" sz="2800"/>
              <a:t> relay the </a:t>
            </a:r>
            <a:br>
              <a:rPr lang="en-US" sz="2800"/>
            </a:br>
            <a:r>
              <a:rPr lang="en-US" sz="2800"/>
              <a:t>signal between devices </a:t>
            </a:r>
            <a:br>
              <a:rPr lang="en-US" sz="2800"/>
            </a:br>
            <a:r>
              <a:rPr lang="en-US" sz="2800"/>
              <a:t>that are too far apart to </a:t>
            </a:r>
            <a:br>
              <a:rPr lang="en-US" sz="2800"/>
            </a:br>
            <a:r>
              <a:rPr lang="en-US" sz="2800"/>
              <a:t>otherwise communicate.</a:t>
            </a:r>
            <a:endParaRPr/>
          </a:p>
        </p:txBody>
      </p:sp>
      <p:pic>
        <p:nvPicPr>
          <p:cNvPr id="75" name="Google Shape;7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8038" y="4010025"/>
            <a:ext cx="320992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ef117618c_1_6"/>
          <p:cNvSpPr txBox="1"/>
          <p:nvPr>
            <p:ph type="title"/>
          </p:nvPr>
        </p:nvSpPr>
        <p:spPr>
          <a:xfrm>
            <a:off x="513400" y="1818150"/>
            <a:ext cx="2432400" cy="322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Subsystem &amp; Interface Breakdown</a:t>
            </a:r>
            <a:endParaRPr/>
          </a:p>
        </p:txBody>
      </p:sp>
      <p:sp>
        <p:nvSpPr>
          <p:cNvPr id="81" name="Google Shape;81;g2fef117618c_1_6"/>
          <p:cNvSpPr txBox="1"/>
          <p:nvPr>
            <p:ph idx="1" type="body"/>
          </p:nvPr>
        </p:nvSpPr>
        <p:spPr>
          <a:xfrm>
            <a:off x="457200" y="5063722"/>
            <a:ext cx="82296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>
                <a:solidFill>
                  <a:srgbClr val="BF9000"/>
                </a:solidFill>
              </a:rPr>
              <a:t>Yellow: Junsu Yeo</a:t>
            </a:r>
            <a:endParaRPr sz="18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>
                <a:solidFill>
                  <a:srgbClr val="0B5394"/>
                </a:solidFill>
              </a:rPr>
              <a:t>Blue: Ryan Haag</a:t>
            </a:r>
            <a:r>
              <a:rPr lang="en-US" sz="1800">
                <a:solidFill>
                  <a:srgbClr val="0000FF"/>
                </a:solidFill>
              </a:rPr>
              <a:t> </a:t>
            </a:r>
            <a:br>
              <a:rPr lang="en-US" sz="1800"/>
            </a:br>
            <a:r>
              <a:rPr lang="en-US" sz="1800">
                <a:solidFill>
                  <a:srgbClr val="38761D"/>
                </a:solidFill>
              </a:rPr>
              <a:t>Green: Jaiah Steele</a:t>
            </a:r>
            <a:endParaRPr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>
                <a:solidFill>
                  <a:srgbClr val="CC0000"/>
                </a:solidFill>
              </a:rPr>
              <a:t>Red: Cole Cieslewicz</a:t>
            </a:r>
            <a:endParaRPr sz="1800">
              <a:solidFill>
                <a:srgbClr val="BF9000"/>
              </a:solidFill>
            </a:endParaRPr>
          </a:p>
        </p:txBody>
      </p:sp>
      <p:pic>
        <p:nvPicPr>
          <p:cNvPr id="82" name="Google Shape;82;g2fef117618c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000" y="1113800"/>
            <a:ext cx="4737801" cy="50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/>
        </p:nvSpPr>
        <p:spPr>
          <a:xfrm>
            <a:off x="2209800" y="9435"/>
            <a:ext cx="66294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Mesh</a:t>
            </a: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		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 Cieslewicz</a:t>
            </a:r>
            <a:endParaRPr/>
          </a:p>
        </p:txBody>
      </p:sp>
      <p:graphicFrame>
        <p:nvGraphicFramePr>
          <p:cNvPr id="88" name="Google Shape;88;p5"/>
          <p:cNvGraphicFramePr/>
          <p:nvPr/>
        </p:nvGraphicFramePr>
        <p:xfrm>
          <a:off x="6858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{6EF102D2-47E2-463E-BE8B-5E30D3D8CCB6}</a:tableStyleId>
              </a:tblPr>
              <a:tblGrid>
                <a:gridCol w="3886200"/>
                <a:gridCol w="3886200"/>
              </a:tblGrid>
              <a:tr h="6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Accomplishments since the last presentation: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Ongoing progress/problems and plans until the next presentation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MCU Communication: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One-way Tx/Rx b/t 2 devices (gibberish)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One-way Tx/Rx b/t 3 devices in a mesh w/ text input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Multi-way Tx/Rx b/t 3 devices w/ text input (not mesh)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MCU Communication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Multi-way Tx/Rx b/t 3 devices in a mesh w/ text input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Audio Transfer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Integrating CC3200AudBoost’s audio packet buffer functionality to transmit buffers instead of text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9" name="Google Shape;89;p5" title="20241022_171608_1_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9775" y="4289325"/>
            <a:ext cx="4241900" cy="243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375" y="4656524"/>
            <a:ext cx="4468626" cy="169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ef117618c_1_63"/>
          <p:cNvSpPr txBox="1"/>
          <p:nvPr/>
        </p:nvSpPr>
        <p:spPr>
          <a:xfrm>
            <a:off x="2209800" y="9435"/>
            <a:ext cx="66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System</a:t>
            </a: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		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Junsu Yeo</a:t>
            </a:r>
            <a:endParaRPr/>
          </a:p>
        </p:txBody>
      </p:sp>
      <p:graphicFrame>
        <p:nvGraphicFramePr>
          <p:cNvPr id="96" name="Google Shape;96;g2fef117618c_1_63"/>
          <p:cNvGraphicFramePr/>
          <p:nvPr/>
        </p:nvGraphicFramePr>
        <p:xfrm>
          <a:off x="6858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{6EF102D2-47E2-463E-BE8B-5E30D3D8CCB6}</a:tableStyleId>
              </a:tblPr>
              <a:tblGrid>
                <a:gridCol w="3886200"/>
                <a:gridCol w="3886200"/>
              </a:tblGrid>
              <a:tr h="93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Accomplishments since the last presentation                              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&gt; hrs 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Ongoing progress/problems and plans until the next presentation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8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Schematics 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Converters and LDOs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Battery Charger and Protection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Simulations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Converters and LDOs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Routing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All components are routed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Need to edit some trace widths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DRC passes </a:t>
                      </a:r>
                      <a:r>
                        <a:rPr lang="en-US" sz="1800"/>
                        <a:t>with no errors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Software for button press to get MCU to go into idle mode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g2fef117618c_1_63"/>
          <p:cNvSpPr txBox="1"/>
          <p:nvPr/>
        </p:nvSpPr>
        <p:spPr>
          <a:xfrm>
            <a:off x="685800" y="3940175"/>
            <a:ext cx="77724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effb2d49d_0_9"/>
          <p:cNvSpPr txBox="1"/>
          <p:nvPr/>
        </p:nvSpPr>
        <p:spPr>
          <a:xfrm>
            <a:off x="4058225" y="106800"/>
            <a:ext cx="4979100" cy="1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3.7V -&gt; 3.3V -&gt; 3.0V		I</a:t>
            </a:r>
            <a:r>
              <a:rPr baseline="-25000" lang="en-US" sz="2300">
                <a:solidFill>
                  <a:schemeClr val="dk1"/>
                </a:solidFill>
              </a:rPr>
              <a:t>L</a:t>
            </a:r>
            <a:r>
              <a:rPr lang="en-US" sz="2300">
                <a:solidFill>
                  <a:schemeClr val="dk1"/>
                </a:solidFill>
              </a:rPr>
              <a:t> = 36.5mA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104" name="Google Shape;104;g2feffb2d49d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799" y="2789350"/>
            <a:ext cx="7193227" cy="389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2feffb2d49d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25212"/>
            <a:ext cx="9144001" cy="175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2feffb2d49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650" y="1252850"/>
            <a:ext cx="7374650" cy="502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ef117618c_1_75"/>
          <p:cNvSpPr txBox="1"/>
          <p:nvPr/>
        </p:nvSpPr>
        <p:spPr>
          <a:xfrm>
            <a:off x="2209800" y="9435"/>
            <a:ext cx="66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PTT/Audio Codec</a:t>
            </a: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		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Jaiah Steele </a:t>
            </a:r>
            <a:endParaRPr/>
          </a:p>
        </p:txBody>
      </p:sp>
      <p:graphicFrame>
        <p:nvGraphicFramePr>
          <p:cNvPr id="117" name="Google Shape;117;g2fef117618c_1_75"/>
          <p:cNvGraphicFramePr/>
          <p:nvPr/>
        </p:nvGraphicFramePr>
        <p:xfrm>
          <a:off x="6858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{6EF102D2-47E2-463E-BE8B-5E30D3D8CCB6}</a:tableStyleId>
              </a:tblPr>
              <a:tblGrid>
                <a:gridCol w="3886200"/>
                <a:gridCol w="3886200"/>
              </a:tblGrid>
              <a:tr h="73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Accomplishments since the last presentation                              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&gt; hrs 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Ongoing progress/problems and plans until the next presentation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25"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Developed a LCD driver and successfully integrated it into the system</a:t>
                      </a:r>
                      <a:endParaRPr/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/>
                        <a:t>Display now shows status messages</a:t>
                      </a:r>
                      <a:endParaRPr/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/>
                        <a:t>Successfully</a:t>
                      </a:r>
                      <a:r>
                        <a:rPr lang="en-US"/>
                        <a:t> combined LCD program with audio codec using the I2S protocol (works independently)</a:t>
                      </a:r>
                      <a:endParaRPr/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/>
                        <a:t>The TLV320 on the CC3200AUDBOOST echos audio utilizing a noise filter to improve audio clarity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Switched from using the Opus codec to the ADPCM (</a:t>
                      </a:r>
                      <a:r>
                        <a:rPr b="1" lang="en-US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</a:rPr>
                        <a:t>Adaptive differential pulse-code modulation) </a:t>
                      </a:r>
                      <a:r>
                        <a:rPr lang="en-US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</a:rPr>
                        <a:t>SW</a:t>
                      </a:r>
                      <a:r>
                        <a:rPr b="1" lang="en-US">
                          <a:solidFill>
                            <a:srgbClr val="3C4043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/>
                        <a:t>codec for audio compression (simplicity, latency reduction)</a:t>
                      </a:r>
                      <a:endParaRPr/>
                    </a:p>
                    <a:p>
                      <a:pPr indent="-3175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Plan to integrate my PTT button with I2S audio codec TLV320 and ADPCM</a:t>
                      </a:r>
                      <a:endParaRPr/>
                    </a:p>
                    <a:p>
                      <a:pPr indent="-3175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Clean-up look with 3.5mm speaker/microphone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8" name="Google Shape;118;g2fef117618c_1_75"/>
          <p:cNvPicPr preferRelativeResize="0"/>
          <p:nvPr/>
        </p:nvPicPr>
        <p:blipFill rotWithShape="1">
          <a:blip r:embed="rId3">
            <a:alphaModFix/>
          </a:blip>
          <a:srcRect b="28145" l="0" r="0" t="17456"/>
          <a:stretch/>
        </p:blipFill>
        <p:spPr>
          <a:xfrm>
            <a:off x="1860075" y="4593575"/>
            <a:ext cx="2711923" cy="19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fef117618c_1_75"/>
          <p:cNvPicPr preferRelativeResize="0"/>
          <p:nvPr/>
        </p:nvPicPr>
        <p:blipFill rotWithShape="1">
          <a:blip r:embed="rId4">
            <a:alphaModFix/>
          </a:blip>
          <a:srcRect b="26282" l="0" r="0" t="19313"/>
          <a:stretch/>
        </p:blipFill>
        <p:spPr>
          <a:xfrm>
            <a:off x="4654325" y="4593575"/>
            <a:ext cx="2711927" cy="1967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ef117618c_1_69"/>
          <p:cNvSpPr txBox="1"/>
          <p:nvPr/>
        </p:nvSpPr>
        <p:spPr>
          <a:xfrm>
            <a:off x="2209800" y="9435"/>
            <a:ext cx="66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 Subsystem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		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Ryan Haag</a:t>
            </a:r>
            <a:endParaRPr/>
          </a:p>
        </p:txBody>
      </p:sp>
      <p:graphicFrame>
        <p:nvGraphicFramePr>
          <p:cNvPr id="125" name="Google Shape;125;g2fef117618c_1_69"/>
          <p:cNvGraphicFramePr/>
          <p:nvPr/>
        </p:nvGraphicFramePr>
        <p:xfrm>
          <a:off x="6858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{6EF102D2-47E2-463E-BE8B-5E30D3D8CCB6}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Accomplishments since the last presentation                            </a:t>
                      </a:r>
                      <a:r>
                        <a:rPr lang="en-US" sz="1800" u="none" cap="none" strike="noStrike"/>
                        <a:t>   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30 Hours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Ongoing progress/problems and plans until the next presentation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Was able to test the audio on a breadboard with the mic and speaker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Began creating the schematics for the audio system and other </a:t>
                      </a:r>
                      <a:r>
                        <a:rPr lang="en-US" sz="1800"/>
                        <a:t>components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Finishing up the PCB schematics and begin routing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Begin working on the software for the ADC and DAC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6" name="Google Shape;126;g2fef117618c_1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536325"/>
            <a:ext cx="4552677" cy="201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fef117618c_1_69"/>
          <p:cNvPicPr preferRelativeResize="0"/>
          <p:nvPr/>
        </p:nvPicPr>
        <p:blipFill rotWithShape="1">
          <a:blip r:embed="rId4">
            <a:alphaModFix/>
          </a:blip>
          <a:srcRect b="0" l="36001" r="23686" t="9698"/>
          <a:stretch/>
        </p:blipFill>
        <p:spPr>
          <a:xfrm rot="-5400000">
            <a:off x="1269150" y="3238287"/>
            <a:ext cx="2073350" cy="461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392500" y="7903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33" name="Google Shape;13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88" y="1433775"/>
            <a:ext cx="8925024" cy="498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de16ce804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 Cnt’d</a:t>
            </a:r>
            <a:endParaRPr/>
          </a:p>
        </p:txBody>
      </p:sp>
      <p:pic>
        <p:nvPicPr>
          <p:cNvPr id="139" name="Google Shape;139;g30de16ce80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13102"/>
            <a:ext cx="8839197" cy="3225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457200" y="8458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145" name="Google Shape;14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562" y="1513500"/>
            <a:ext cx="7766875" cy="50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2feffb2d49d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550" y="1148225"/>
            <a:ext cx="7098151" cy="250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2feffb2d49d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2400" y="3745925"/>
            <a:ext cx="3541809" cy="290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feffb2d49d_0_29"/>
          <p:cNvSpPr txBox="1"/>
          <p:nvPr/>
        </p:nvSpPr>
        <p:spPr>
          <a:xfrm>
            <a:off x="4606625" y="288625"/>
            <a:ext cx="4537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3.7V -&gt; 5V		I</a:t>
            </a:r>
            <a:r>
              <a:rPr baseline="-25000" lang="en-US" sz="2600">
                <a:solidFill>
                  <a:schemeClr val="dk1"/>
                </a:solidFill>
              </a:rPr>
              <a:t>L</a:t>
            </a:r>
            <a:r>
              <a:rPr lang="en-US" sz="2600">
                <a:solidFill>
                  <a:schemeClr val="dk1"/>
                </a:solidFill>
              </a:rPr>
              <a:t> = 27mA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effb2d49d_0_19"/>
          <p:cNvSpPr txBox="1"/>
          <p:nvPr/>
        </p:nvSpPr>
        <p:spPr>
          <a:xfrm>
            <a:off x="4346875" y="265550"/>
            <a:ext cx="43584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3.7V -&gt; 9.06V -&gt; 8V I</a:t>
            </a:r>
            <a:r>
              <a:rPr baseline="-25000" lang="en-US" sz="2200">
                <a:solidFill>
                  <a:schemeClr val="dk1"/>
                </a:solidFill>
              </a:rPr>
              <a:t>L</a:t>
            </a:r>
            <a:r>
              <a:rPr lang="en-US" sz="2200">
                <a:solidFill>
                  <a:schemeClr val="dk1"/>
                </a:solidFill>
              </a:rPr>
              <a:t> = 363mA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60" name="Google Shape;160;g2feffb2d49d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014" y="3429001"/>
            <a:ext cx="6330388" cy="331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2feffb2d49d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25" y="1073750"/>
            <a:ext cx="8839202" cy="1708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de182f5b2_3_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0de182f5b2_3_8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g30de182f5b2_3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850" y="1498326"/>
            <a:ext cx="7734701" cy="428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0de182f5b2_3_8"/>
          <p:cNvSpPr txBox="1"/>
          <p:nvPr/>
        </p:nvSpPr>
        <p:spPr>
          <a:xfrm>
            <a:off x="4396075" y="175675"/>
            <a:ext cx="4491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Mic Schematic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de182f5b2_3_1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0de182f5b2_3_17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0de182f5b2_3_17"/>
          <p:cNvSpPr txBox="1"/>
          <p:nvPr/>
        </p:nvSpPr>
        <p:spPr>
          <a:xfrm>
            <a:off x="4396075" y="175675"/>
            <a:ext cx="4491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MCU RF</a:t>
            </a:r>
            <a:r>
              <a:rPr lang="en-US" sz="3200">
                <a:solidFill>
                  <a:schemeClr val="dk1"/>
                </a:solidFill>
              </a:rPr>
              <a:t> Schematic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179" name="Google Shape;179;g30de182f5b2_3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63" y="1278312"/>
            <a:ext cx="6774463" cy="4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2012-01-20T14:22:33Z</dcterms:created>
  <dc:creator>Samuel Villareal</dc:creator>
</cp:coreProperties>
</file>