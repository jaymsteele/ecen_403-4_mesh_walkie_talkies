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DA22A7-8006-40A1-9491-49F0D367E2E7}">
  <a:tblStyle styleId="{FDDA22A7-8006-40A1-9491-49F0D367E2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8362f4bbd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8362f4bbd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8362f4bbd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8362f4bbd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8361e89237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8361e89237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8362f4bbd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8362f4bbd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8362f4bbd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8362f4bbd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8361e89237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8361e89237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8361e89237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8361e89237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p:nvPr/>
        </p:nvSpPr>
        <p:spPr>
          <a:xfrm>
            <a:off x="198344" y="155321"/>
            <a:ext cx="8747400" cy="4833000"/>
          </a:xfrm>
          <a:prstGeom prst="rect">
            <a:avLst/>
          </a:prstGeom>
          <a:gradFill>
            <a:gsLst>
              <a:gs pos="0">
                <a:srgbClr val="370000"/>
              </a:gs>
              <a:gs pos="5000">
                <a:srgbClr val="370000"/>
              </a:gs>
              <a:gs pos="76000">
                <a:srgbClr val="500000"/>
              </a:gs>
              <a:gs pos="100000">
                <a:srgbClr val="500000"/>
              </a:gs>
            </a:gsLst>
            <a:lin ang="162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 name="Google Shape;15;p2"/>
          <p:cNvSpPr/>
          <p:nvPr/>
        </p:nvSpPr>
        <p:spPr>
          <a:xfrm>
            <a:off x="198344" y="2028976"/>
            <a:ext cx="89100" cy="1028700"/>
          </a:xfrm>
          <a:prstGeom prst="rect">
            <a:avLst/>
          </a:prstGeom>
          <a:solidFill>
            <a:srgbClr val="FFFF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 name="Google Shape;16;p2"/>
          <p:cNvSpPr/>
          <p:nvPr/>
        </p:nvSpPr>
        <p:spPr>
          <a:xfrm>
            <a:off x="8856502" y="2028976"/>
            <a:ext cx="89100" cy="1028700"/>
          </a:xfrm>
          <a:prstGeom prst="rect">
            <a:avLst/>
          </a:prstGeom>
          <a:solidFill>
            <a:srgbClr val="FFFF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 name="Google Shape;17;p2"/>
          <p:cNvSpPr txBox="1"/>
          <p:nvPr>
            <p:ph type="ctrTitle"/>
          </p:nvPr>
        </p:nvSpPr>
        <p:spPr>
          <a:xfrm>
            <a:off x="685800" y="2020492"/>
            <a:ext cx="7772400" cy="11025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lt1"/>
              </a:buClr>
              <a:buSzPts val="3200"/>
              <a:buFont typeface="Arial"/>
              <a:buNone/>
              <a:defRPr b="1" sz="32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 name="Google Shape;18;p2"/>
          <p:cNvSpPr txBox="1"/>
          <p:nvPr>
            <p:ph idx="1" type="subTitle"/>
          </p:nvPr>
        </p:nvSpPr>
        <p:spPr>
          <a:xfrm>
            <a:off x="1371600" y="3176543"/>
            <a:ext cx="6400800" cy="892500"/>
          </a:xfrm>
          <a:prstGeom prst="rect">
            <a:avLst/>
          </a:prstGeom>
          <a:noFill/>
          <a:ln>
            <a:noFill/>
          </a:ln>
        </p:spPr>
        <p:txBody>
          <a:bodyPr anchorCtr="0" anchor="t" bIns="34275" lIns="68575" spcFirstLastPara="1" rIns="68575" wrap="square" tIns="34275">
            <a:normAutofit/>
          </a:bodyPr>
          <a:lstStyle>
            <a:lvl1pPr lvl="0" algn="ctr">
              <a:spcBef>
                <a:spcPts val="400"/>
              </a:spcBef>
              <a:spcAft>
                <a:spcPts val="0"/>
              </a:spcAft>
              <a:buClr>
                <a:schemeClr val="lt1"/>
              </a:buClr>
              <a:buSzPts val="2100"/>
              <a:buNone/>
              <a:defRPr i="0" sz="2100">
                <a:solidFill>
                  <a:schemeClr val="lt1"/>
                </a:solidFill>
                <a:latin typeface="Arial"/>
                <a:ea typeface="Arial"/>
                <a:cs typeface="Arial"/>
                <a:sym typeface="Aria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pic>
        <p:nvPicPr>
          <p:cNvPr id="19" name="Google Shape;19;p2"/>
          <p:cNvPicPr preferRelativeResize="0"/>
          <p:nvPr/>
        </p:nvPicPr>
        <p:blipFill rotWithShape="1">
          <a:blip r:embed="rId2">
            <a:alphaModFix/>
          </a:blip>
          <a:srcRect b="0" l="0" r="0" t="0"/>
          <a:stretch/>
        </p:blipFill>
        <p:spPr>
          <a:xfrm>
            <a:off x="3027728" y="530915"/>
            <a:ext cx="3088546" cy="72500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482600" y="169433"/>
            <a:ext cx="5765700" cy="693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2700"/>
              <a:buFont typeface="Arial"/>
              <a:buNone/>
              <a:defRPr b="1" sz="27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 name="Google Shape;22;p3"/>
          <p:cNvSpPr txBox="1"/>
          <p:nvPr>
            <p:ph idx="1" type="body"/>
          </p:nvPr>
        </p:nvSpPr>
        <p:spPr>
          <a:xfrm>
            <a:off x="457200" y="1109133"/>
            <a:ext cx="8229600" cy="3485400"/>
          </a:xfrm>
          <a:prstGeom prst="rect">
            <a:avLst/>
          </a:prstGeom>
          <a:noFill/>
          <a:ln>
            <a:noFill/>
          </a:ln>
        </p:spPr>
        <p:txBody>
          <a:bodyPr anchorCtr="0" anchor="t" bIns="34275" lIns="68575" spcFirstLastPara="1" rIns="68575" wrap="square" tIns="34275">
            <a:normAutofit/>
          </a:bodyPr>
          <a:lstStyle>
            <a:lvl1pPr indent="-228600" lvl="0" marL="457200" algn="l">
              <a:spcBef>
                <a:spcPts val="500"/>
              </a:spcBef>
              <a:spcAft>
                <a:spcPts val="0"/>
              </a:spcAft>
              <a:buClr>
                <a:schemeClr val="dk1"/>
              </a:buClr>
              <a:buSzPts val="2400"/>
              <a:buNone/>
              <a:defRPr>
                <a:solidFill>
                  <a:schemeClr val="dk1"/>
                </a:solidFill>
                <a:latin typeface="Arial"/>
                <a:ea typeface="Arial"/>
                <a:cs typeface="Arial"/>
                <a:sym typeface="Arial"/>
              </a:defRPr>
            </a:lvl1pPr>
            <a:lvl2pPr indent="-228600" lvl="1" marL="914400" algn="l">
              <a:spcBef>
                <a:spcPts val="400"/>
              </a:spcBef>
              <a:spcAft>
                <a:spcPts val="0"/>
              </a:spcAft>
              <a:buClr>
                <a:schemeClr val="dk1"/>
              </a:buClr>
              <a:buSzPts val="2100"/>
              <a:buNone/>
              <a:defRPr>
                <a:solidFill>
                  <a:schemeClr val="dk1"/>
                </a:solidFill>
                <a:latin typeface="Arial"/>
                <a:ea typeface="Arial"/>
                <a:cs typeface="Arial"/>
                <a:sym typeface="Arial"/>
              </a:defRPr>
            </a:lvl2pPr>
            <a:lvl3pPr indent="-228600" lvl="2" marL="1371600" algn="l">
              <a:spcBef>
                <a:spcPts val="400"/>
              </a:spcBef>
              <a:spcAft>
                <a:spcPts val="0"/>
              </a:spcAft>
              <a:buClr>
                <a:schemeClr val="dk1"/>
              </a:buClr>
              <a:buSzPts val="1800"/>
              <a:buNone/>
              <a:defRPr>
                <a:solidFill>
                  <a:schemeClr val="dk1"/>
                </a:solidFill>
                <a:latin typeface="Arial"/>
                <a:ea typeface="Arial"/>
                <a:cs typeface="Arial"/>
                <a:sym typeface="Arial"/>
              </a:defRPr>
            </a:lvl3pPr>
            <a:lvl4pPr indent="-228600" lvl="3" marL="1828800" algn="l">
              <a:spcBef>
                <a:spcPts val="300"/>
              </a:spcBef>
              <a:spcAft>
                <a:spcPts val="0"/>
              </a:spcAft>
              <a:buClr>
                <a:schemeClr val="dk1"/>
              </a:buClr>
              <a:buSzPts val="1500"/>
              <a:buNone/>
              <a:defRPr>
                <a:solidFill>
                  <a:schemeClr val="dk1"/>
                </a:solidFill>
                <a:latin typeface="Arial"/>
                <a:ea typeface="Arial"/>
                <a:cs typeface="Arial"/>
                <a:sym typeface="Arial"/>
              </a:defRPr>
            </a:lvl4pPr>
            <a:lvl5pPr indent="-228600" lvl="4" marL="2286000" algn="l">
              <a:spcBef>
                <a:spcPts val="300"/>
              </a:spcBef>
              <a:spcAft>
                <a:spcPts val="0"/>
              </a:spcAft>
              <a:buClr>
                <a:schemeClr val="dk1"/>
              </a:buClr>
              <a:buSzPts val="1500"/>
              <a:buNone/>
              <a:defRPr>
                <a:solidFill>
                  <a:schemeClr val="dk1"/>
                </a:solidFill>
                <a:latin typeface="Arial"/>
                <a:ea typeface="Arial"/>
                <a:cs typeface="Arial"/>
                <a:sym typeface="Arial"/>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pic>
        <p:nvPicPr>
          <p:cNvPr id="24" name="Google Shape;24;p4"/>
          <p:cNvPicPr preferRelativeResize="0"/>
          <p:nvPr/>
        </p:nvPicPr>
        <p:blipFill rotWithShape="1">
          <a:blip r:embed="rId2">
            <a:alphaModFix/>
          </a:blip>
          <a:srcRect b="21053" l="0" r="10620" t="4954"/>
          <a:stretch/>
        </p:blipFill>
        <p:spPr>
          <a:xfrm>
            <a:off x="194953" y="156028"/>
            <a:ext cx="8754090" cy="4831444"/>
          </a:xfrm>
          <a:prstGeom prst="rect">
            <a:avLst/>
          </a:prstGeom>
          <a:noFill/>
          <a:ln>
            <a:noFill/>
          </a:ln>
        </p:spPr>
      </p:pic>
      <p:sp>
        <p:nvSpPr>
          <p:cNvPr id="25" name="Google Shape;25;p4"/>
          <p:cNvSpPr/>
          <p:nvPr/>
        </p:nvSpPr>
        <p:spPr>
          <a:xfrm>
            <a:off x="795353" y="1570075"/>
            <a:ext cx="7553400" cy="2003400"/>
          </a:xfrm>
          <a:prstGeom prst="rect">
            <a:avLst/>
          </a:prstGeom>
          <a:solidFill>
            <a:schemeClr val="lt1"/>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6" name="Google Shape;26;p4"/>
          <p:cNvSpPr/>
          <p:nvPr/>
        </p:nvSpPr>
        <p:spPr>
          <a:xfrm>
            <a:off x="795353" y="2057193"/>
            <a:ext cx="96000" cy="1028700"/>
          </a:xfrm>
          <a:prstGeom prst="rect">
            <a:avLst/>
          </a:prstGeom>
          <a:solidFill>
            <a:srgbClr val="FFFF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 name="Google Shape;27;p4"/>
          <p:cNvSpPr/>
          <p:nvPr/>
        </p:nvSpPr>
        <p:spPr>
          <a:xfrm>
            <a:off x="8252636" y="2068667"/>
            <a:ext cx="96000" cy="1028700"/>
          </a:xfrm>
          <a:prstGeom prst="rect">
            <a:avLst/>
          </a:prstGeom>
          <a:solidFill>
            <a:srgbClr val="FFFF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 name="Google Shape;28;p4"/>
          <p:cNvSpPr txBox="1"/>
          <p:nvPr>
            <p:ph type="title"/>
          </p:nvPr>
        </p:nvSpPr>
        <p:spPr>
          <a:xfrm>
            <a:off x="1124712" y="2154392"/>
            <a:ext cx="68946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500000"/>
              </a:buClr>
              <a:buSzPts val="2600"/>
              <a:buFont typeface="Arial"/>
              <a:buNone/>
              <a:defRPr b="1" sz="2600">
                <a:solidFill>
                  <a:srgbClr val="500000"/>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 name="Google Shape;29;p4"/>
          <p:cNvSpPr/>
          <p:nvPr/>
        </p:nvSpPr>
        <p:spPr>
          <a:xfrm>
            <a:off x="3366341" y="1194968"/>
            <a:ext cx="2411400" cy="725100"/>
          </a:xfrm>
          <a:prstGeom prst="rect">
            <a:avLst/>
          </a:prstGeom>
          <a:gradFill>
            <a:gsLst>
              <a:gs pos="0">
                <a:srgbClr val="370000"/>
              </a:gs>
              <a:gs pos="5000">
                <a:srgbClr val="370000"/>
              </a:gs>
              <a:gs pos="76000">
                <a:srgbClr val="500000"/>
              </a:gs>
              <a:gs pos="100000">
                <a:srgbClr val="500000"/>
              </a:gs>
            </a:gsLst>
            <a:lin ang="162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0" name="Google Shape;30;p4"/>
          <p:cNvPicPr preferRelativeResize="0"/>
          <p:nvPr/>
        </p:nvPicPr>
        <p:blipFill rotWithShape="1">
          <a:blip r:embed="rId3">
            <a:alphaModFix/>
          </a:blip>
          <a:srcRect b="0" l="0" r="0" t="0"/>
          <a:stretch/>
        </p:blipFill>
        <p:spPr>
          <a:xfrm>
            <a:off x="3516179" y="1313542"/>
            <a:ext cx="2111642" cy="49568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3305177"/>
            <a:ext cx="7772400" cy="10215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Arial"/>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5"/>
          <p:cNvSpPr txBox="1"/>
          <p:nvPr>
            <p:ph idx="1" type="body"/>
          </p:nvPr>
        </p:nvSpPr>
        <p:spPr>
          <a:xfrm>
            <a:off x="722313" y="2180035"/>
            <a:ext cx="7772400" cy="112500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chemeClr val="dk1"/>
              </a:buClr>
              <a:buSzPts val="1500"/>
              <a:buNone/>
              <a:defRPr sz="1500">
                <a:solidFill>
                  <a:schemeClr val="dk1"/>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457200" y="791075"/>
            <a:ext cx="82296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 name="Google Shape;36;p6"/>
          <p:cNvSpPr txBox="1"/>
          <p:nvPr>
            <p:ph idx="1" type="body"/>
          </p:nvPr>
        </p:nvSpPr>
        <p:spPr>
          <a:xfrm>
            <a:off x="457200" y="1720517"/>
            <a:ext cx="4038600" cy="28740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7" name="Google Shape;37;p6"/>
          <p:cNvSpPr txBox="1"/>
          <p:nvPr>
            <p:ph idx="2" type="body"/>
          </p:nvPr>
        </p:nvSpPr>
        <p:spPr>
          <a:xfrm>
            <a:off x="4648200" y="1720517"/>
            <a:ext cx="4038600" cy="28740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7"/>
          <p:cNvSpPr txBox="1"/>
          <p:nvPr>
            <p:ph type="title"/>
          </p:nvPr>
        </p:nvSpPr>
        <p:spPr>
          <a:xfrm>
            <a:off x="457200" y="725028"/>
            <a:ext cx="82296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 name="Google Shape;40;p7"/>
          <p:cNvSpPr txBox="1"/>
          <p:nvPr>
            <p:ph idx="1" type="body"/>
          </p:nvPr>
        </p:nvSpPr>
        <p:spPr>
          <a:xfrm>
            <a:off x="457200" y="1730324"/>
            <a:ext cx="40401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1" name="Google Shape;41;p7"/>
          <p:cNvSpPr txBox="1"/>
          <p:nvPr>
            <p:ph idx="2" type="body"/>
          </p:nvPr>
        </p:nvSpPr>
        <p:spPr>
          <a:xfrm>
            <a:off x="457200" y="2210146"/>
            <a:ext cx="4040100" cy="2384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2" name="Google Shape;42;p7"/>
          <p:cNvSpPr txBox="1"/>
          <p:nvPr>
            <p:ph idx="3" type="body"/>
          </p:nvPr>
        </p:nvSpPr>
        <p:spPr>
          <a:xfrm>
            <a:off x="4645033" y="1730324"/>
            <a:ext cx="40419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3" name="Google Shape;43;p7"/>
          <p:cNvSpPr txBox="1"/>
          <p:nvPr>
            <p:ph idx="4" type="body"/>
          </p:nvPr>
        </p:nvSpPr>
        <p:spPr>
          <a:xfrm>
            <a:off x="4645033" y="2210146"/>
            <a:ext cx="4041900" cy="2384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5" name="Shape 45"/>
        <p:cNvGrpSpPr/>
        <p:nvPr/>
      </p:nvGrpSpPr>
      <p:grpSpPr>
        <a:xfrm>
          <a:off x="0" y="0"/>
          <a:ext cx="0" cy="0"/>
          <a:chOff x="0" y="0"/>
          <a:chExt cx="0" cy="0"/>
        </a:xfrm>
      </p:grpSpPr>
      <p:sp>
        <p:nvSpPr>
          <p:cNvPr id="46" name="Google Shape;46;p9"/>
          <p:cNvSpPr txBox="1"/>
          <p:nvPr>
            <p:ph type="title"/>
          </p:nvPr>
        </p:nvSpPr>
        <p:spPr>
          <a:xfrm>
            <a:off x="457208" y="878306"/>
            <a:ext cx="3008400" cy="8715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Arial"/>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Google Shape;47;p9"/>
          <p:cNvSpPr txBox="1"/>
          <p:nvPr>
            <p:ph idx="1" type="body"/>
          </p:nvPr>
        </p:nvSpPr>
        <p:spPr>
          <a:xfrm>
            <a:off x="3575050" y="878306"/>
            <a:ext cx="5111700" cy="3716400"/>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48" name="Google Shape;48;p9"/>
          <p:cNvSpPr txBox="1"/>
          <p:nvPr>
            <p:ph idx="2" type="body"/>
          </p:nvPr>
        </p:nvSpPr>
        <p:spPr>
          <a:xfrm>
            <a:off x="457208" y="1804738"/>
            <a:ext cx="3008400" cy="27900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9" name="Shape 49"/>
        <p:cNvGrpSpPr/>
        <p:nvPr/>
      </p:nvGrpSpPr>
      <p:grpSpPr>
        <a:xfrm>
          <a:off x="0" y="0"/>
          <a:ext cx="0" cy="0"/>
          <a:chOff x="0" y="0"/>
          <a:chExt cx="0" cy="0"/>
        </a:xfrm>
      </p:grpSpPr>
      <p:sp>
        <p:nvSpPr>
          <p:cNvPr id="50" name="Google Shape;50;p10"/>
          <p:cNvSpPr txBox="1"/>
          <p:nvPr>
            <p:ph type="title"/>
          </p:nvPr>
        </p:nvSpPr>
        <p:spPr>
          <a:xfrm>
            <a:off x="1792288" y="3600452"/>
            <a:ext cx="54864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Arial"/>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10"/>
          <p:cNvSpPr/>
          <p:nvPr>
            <p:ph idx="2" type="pic"/>
          </p:nvPr>
        </p:nvSpPr>
        <p:spPr>
          <a:xfrm>
            <a:off x="1792288" y="830179"/>
            <a:ext cx="5486400" cy="2715600"/>
          </a:xfrm>
          <a:prstGeom prst="rect">
            <a:avLst/>
          </a:prstGeom>
          <a:noFill/>
          <a:ln>
            <a:noFill/>
          </a:ln>
        </p:spPr>
      </p:sp>
      <p:sp>
        <p:nvSpPr>
          <p:cNvPr id="52" name="Google Shape;52;p10"/>
          <p:cNvSpPr txBox="1"/>
          <p:nvPr>
            <p:ph idx="1" type="body"/>
          </p:nvPr>
        </p:nvSpPr>
        <p:spPr>
          <a:xfrm>
            <a:off x="1792288" y="4025507"/>
            <a:ext cx="5486400" cy="6036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734876"/>
            <a:ext cx="8229600" cy="85740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457200" y="1592125"/>
            <a:ext cx="8229600" cy="3002400"/>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cxnSp>
        <p:nvCxnSpPr>
          <p:cNvPr id="8" name="Google Shape;8;p1"/>
          <p:cNvCxnSpPr/>
          <p:nvPr/>
        </p:nvCxnSpPr>
        <p:spPr>
          <a:xfrm>
            <a:off x="209006" y="4931330"/>
            <a:ext cx="6993600" cy="0"/>
          </a:xfrm>
          <a:prstGeom prst="straightConnector1">
            <a:avLst/>
          </a:prstGeom>
          <a:noFill/>
          <a:ln cap="flat" cmpd="sng" w="12700">
            <a:solidFill>
              <a:srgbClr val="E4002B"/>
            </a:solidFill>
            <a:prstDash val="solid"/>
            <a:miter lim="400000"/>
            <a:headEnd len="sm" w="sm" type="none"/>
            <a:tailEnd len="sm" w="sm" type="none"/>
          </a:ln>
        </p:spPr>
      </p:cxnSp>
      <p:sp>
        <p:nvSpPr>
          <p:cNvPr id="9" name="Google Shape;9;p1"/>
          <p:cNvSpPr/>
          <p:nvPr/>
        </p:nvSpPr>
        <p:spPr>
          <a:xfrm>
            <a:off x="287866" y="173874"/>
            <a:ext cx="8568300" cy="694800"/>
          </a:xfrm>
          <a:prstGeom prst="rect">
            <a:avLst/>
          </a:prstGeom>
          <a:gradFill>
            <a:gsLst>
              <a:gs pos="0">
                <a:srgbClr val="370000"/>
              </a:gs>
              <a:gs pos="5000">
                <a:srgbClr val="370000"/>
              </a:gs>
              <a:gs pos="76000">
                <a:srgbClr val="500000"/>
              </a:gs>
              <a:gs pos="100000">
                <a:srgbClr val="500000"/>
              </a:gs>
            </a:gsLst>
            <a:lin ang="162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 name="Google Shape;10;p1"/>
          <p:cNvSpPr/>
          <p:nvPr/>
        </p:nvSpPr>
        <p:spPr>
          <a:xfrm>
            <a:off x="287867" y="302835"/>
            <a:ext cx="90600" cy="436800"/>
          </a:xfrm>
          <a:prstGeom prst="rect">
            <a:avLst/>
          </a:prstGeom>
          <a:solidFill>
            <a:srgbClr val="FFFF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 name="Google Shape;11;p1"/>
          <p:cNvSpPr txBox="1"/>
          <p:nvPr/>
        </p:nvSpPr>
        <p:spPr>
          <a:xfrm>
            <a:off x="209004" y="4768619"/>
            <a:ext cx="6993600" cy="138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0" i="0" lang="en" sz="900" u="none" cap="none" strike="noStrike">
                <a:solidFill>
                  <a:schemeClr val="dk1"/>
                </a:solidFill>
                <a:latin typeface="Arial"/>
                <a:ea typeface="Arial"/>
                <a:cs typeface="Arial"/>
                <a:sym typeface="Arial"/>
              </a:rPr>
              <a:t>FOOTER INFO HERE – CHANGE ON MASTER SLIDE</a:t>
            </a:r>
            <a:endParaRPr sz="1100"/>
          </a:p>
        </p:txBody>
      </p:sp>
      <p:pic>
        <p:nvPicPr>
          <p:cNvPr id="12" name="Google Shape;12;p1"/>
          <p:cNvPicPr preferRelativeResize="0"/>
          <p:nvPr/>
        </p:nvPicPr>
        <p:blipFill rotWithShape="1">
          <a:blip r:embed="rId1">
            <a:alphaModFix/>
          </a:blip>
          <a:srcRect b="0" l="0" r="0" t="0"/>
          <a:stretch/>
        </p:blipFill>
        <p:spPr>
          <a:xfrm>
            <a:off x="6792685" y="302836"/>
            <a:ext cx="1894112" cy="4446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uniconvergetech.in/blog/wi-sun-networks" TargetMode="External"/><Relationship Id="rId4" Type="http://schemas.openxmlformats.org/officeDocument/2006/relationships/hyperlink" Target="https://opus-codec.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1"/>
          <p:cNvSpPr txBox="1"/>
          <p:nvPr>
            <p:ph type="ctrTitle"/>
          </p:nvPr>
        </p:nvSpPr>
        <p:spPr>
          <a:xfrm>
            <a:off x="685800" y="2020492"/>
            <a:ext cx="7772400" cy="11025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Mesh Walkie Talkie Research</a:t>
            </a:r>
            <a:endParaRPr/>
          </a:p>
        </p:txBody>
      </p:sp>
      <p:sp>
        <p:nvSpPr>
          <p:cNvPr id="58" name="Google Shape;58;p11"/>
          <p:cNvSpPr txBox="1"/>
          <p:nvPr>
            <p:ph idx="1" type="subTitle"/>
          </p:nvPr>
        </p:nvSpPr>
        <p:spPr>
          <a:xfrm>
            <a:off x="1371600" y="3176543"/>
            <a:ext cx="6400800" cy="892500"/>
          </a:xfrm>
          <a:prstGeom prst="rect">
            <a:avLst/>
          </a:prstGeom>
        </p:spPr>
        <p:txBody>
          <a:bodyPr anchorCtr="0" anchor="t" bIns="34275" lIns="68575" spcFirstLastPara="1" rIns="68575" wrap="square" tIns="34275">
            <a:normAutofit/>
          </a:bodyPr>
          <a:lstStyle/>
          <a:p>
            <a:pPr indent="0" lvl="0" marL="0" rtl="0" algn="ctr">
              <a:spcBef>
                <a:spcPts val="400"/>
              </a:spcBef>
              <a:spcAft>
                <a:spcPts val="0"/>
              </a:spcAft>
              <a:buNone/>
            </a:pPr>
            <a:r>
              <a:rPr lang="en"/>
              <a:t>ECEN/CSCE 403 Capstone</a:t>
            </a:r>
            <a:endParaRPr/>
          </a:p>
          <a:p>
            <a:pPr indent="0" lvl="0" marL="0" rtl="0" algn="ctr">
              <a:spcBef>
                <a:spcPts val="400"/>
              </a:spcBef>
              <a:spcAft>
                <a:spcPts val="0"/>
              </a:spcAft>
              <a:buNone/>
            </a:pPr>
            <a:r>
              <a:rPr lang="en"/>
              <a:t>Jaiah, Ryan, Junsu, Cole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Subsystem Split</a:t>
            </a:r>
            <a:endParaRPr/>
          </a:p>
        </p:txBody>
      </p:sp>
      <p:sp>
        <p:nvSpPr>
          <p:cNvPr id="64" name="Google Shape;64;p12"/>
          <p:cNvSpPr txBox="1"/>
          <p:nvPr>
            <p:ph idx="1" type="body"/>
          </p:nvPr>
        </p:nvSpPr>
        <p:spPr>
          <a:xfrm>
            <a:off x="457200" y="996850"/>
            <a:ext cx="8229600" cy="3597600"/>
          </a:xfrm>
          <a:prstGeom prst="rect">
            <a:avLst/>
          </a:prstGeom>
        </p:spPr>
        <p:txBody>
          <a:bodyPr anchorCtr="0" anchor="t" bIns="34275" lIns="68575" spcFirstLastPara="1" rIns="68575" wrap="square" tIns="34275">
            <a:normAutofit fontScale="85000" lnSpcReduction="20000"/>
          </a:bodyPr>
          <a:lstStyle/>
          <a:p>
            <a:pPr indent="-330099" lvl="0" marL="457200" rtl="0" algn="l">
              <a:lnSpc>
                <a:spcPct val="115000"/>
              </a:lnSpc>
              <a:spcBef>
                <a:spcPts val="0"/>
              </a:spcBef>
              <a:spcAft>
                <a:spcPts val="0"/>
              </a:spcAft>
              <a:buSzPct val="100000"/>
              <a:buAutoNum type="arabicPeriod"/>
            </a:pPr>
            <a:r>
              <a:rPr b="1" lang="en" sz="1880"/>
              <a:t>Power System</a:t>
            </a:r>
            <a:r>
              <a:rPr lang="en" sz="1880"/>
              <a:t> - Junsu </a:t>
            </a:r>
            <a:endParaRPr sz="1880"/>
          </a:p>
          <a:p>
            <a:pPr indent="-330100" lvl="1" marL="914400" rtl="0" algn="l">
              <a:lnSpc>
                <a:spcPct val="115000"/>
              </a:lnSpc>
              <a:spcBef>
                <a:spcPts val="0"/>
              </a:spcBef>
              <a:spcAft>
                <a:spcPts val="0"/>
              </a:spcAft>
              <a:buSzPct val="100000"/>
              <a:buAutoNum type="alphaLcPeriod"/>
            </a:pPr>
            <a:r>
              <a:rPr lang="en" sz="1880"/>
              <a:t>Be able to power multiple systems</a:t>
            </a:r>
            <a:endParaRPr sz="1880"/>
          </a:p>
          <a:p>
            <a:pPr indent="-330100" lvl="1" marL="914400" rtl="0" algn="l">
              <a:lnSpc>
                <a:spcPct val="115000"/>
              </a:lnSpc>
              <a:spcBef>
                <a:spcPts val="0"/>
              </a:spcBef>
              <a:spcAft>
                <a:spcPts val="0"/>
              </a:spcAft>
              <a:buSzPct val="100000"/>
              <a:buAutoNum type="alphaLcPeriod"/>
            </a:pPr>
            <a:r>
              <a:rPr lang="en" sz="1880"/>
              <a:t>Low power, transmission, and shut-down power systems</a:t>
            </a:r>
            <a:endParaRPr sz="1880"/>
          </a:p>
          <a:p>
            <a:pPr indent="-330100" lvl="1" marL="914400" rtl="0" algn="l">
              <a:lnSpc>
                <a:spcPct val="115000"/>
              </a:lnSpc>
              <a:spcBef>
                <a:spcPts val="0"/>
              </a:spcBef>
              <a:spcAft>
                <a:spcPts val="0"/>
              </a:spcAft>
              <a:buSzPct val="100000"/>
              <a:buAutoNum type="alphaLcPeriod"/>
            </a:pPr>
            <a:r>
              <a:rPr lang="en" sz="1880"/>
              <a:t>Rechargeable Li Battery (1.8 - 3.8 MCU supply Voltage)</a:t>
            </a:r>
            <a:endParaRPr sz="1880"/>
          </a:p>
          <a:p>
            <a:pPr indent="-330099" lvl="0" marL="457200" rtl="0" algn="l">
              <a:lnSpc>
                <a:spcPct val="115000"/>
              </a:lnSpc>
              <a:spcBef>
                <a:spcPts val="0"/>
              </a:spcBef>
              <a:spcAft>
                <a:spcPts val="0"/>
              </a:spcAft>
              <a:buSzPct val="100000"/>
              <a:buAutoNum type="arabicPeriod"/>
            </a:pPr>
            <a:r>
              <a:rPr b="1" lang="en" sz="1880"/>
              <a:t>Audio System</a:t>
            </a:r>
            <a:r>
              <a:rPr lang="en" sz="1880"/>
              <a:t> - Ryan</a:t>
            </a:r>
            <a:endParaRPr sz="1880"/>
          </a:p>
          <a:p>
            <a:pPr indent="-330100" lvl="1" marL="914400" rtl="0" algn="l">
              <a:lnSpc>
                <a:spcPct val="115000"/>
              </a:lnSpc>
              <a:spcBef>
                <a:spcPts val="0"/>
              </a:spcBef>
              <a:spcAft>
                <a:spcPts val="0"/>
              </a:spcAft>
              <a:buSzPct val="100000"/>
              <a:buAutoNum type="alphaLcPeriod"/>
            </a:pPr>
            <a:r>
              <a:rPr lang="en" sz="1880"/>
              <a:t>Audio sampling/audio compression</a:t>
            </a:r>
            <a:endParaRPr sz="1880"/>
          </a:p>
          <a:p>
            <a:pPr indent="-330100" lvl="1" marL="914400" rtl="0" algn="l">
              <a:lnSpc>
                <a:spcPct val="115000"/>
              </a:lnSpc>
              <a:spcBef>
                <a:spcPts val="0"/>
              </a:spcBef>
              <a:spcAft>
                <a:spcPts val="0"/>
              </a:spcAft>
              <a:buSzPct val="100000"/>
              <a:buAutoNum type="alphaLcPeriod"/>
            </a:pPr>
            <a:r>
              <a:rPr lang="en" sz="1880"/>
              <a:t>Push-to-talk</a:t>
            </a:r>
            <a:endParaRPr sz="1880"/>
          </a:p>
          <a:p>
            <a:pPr indent="-330100" lvl="1" marL="914400" rtl="0" algn="l">
              <a:lnSpc>
                <a:spcPct val="115000"/>
              </a:lnSpc>
              <a:spcBef>
                <a:spcPts val="0"/>
              </a:spcBef>
              <a:spcAft>
                <a:spcPts val="0"/>
              </a:spcAft>
              <a:buSzPct val="100000"/>
              <a:buAutoNum type="alphaLcPeriod"/>
            </a:pPr>
            <a:r>
              <a:rPr lang="en" sz="1880"/>
              <a:t>ADC/DAC conversions</a:t>
            </a:r>
            <a:endParaRPr sz="1880"/>
          </a:p>
          <a:p>
            <a:pPr indent="-330099" lvl="0" marL="457200" rtl="0" algn="l">
              <a:lnSpc>
                <a:spcPct val="115000"/>
              </a:lnSpc>
              <a:spcBef>
                <a:spcPts val="0"/>
              </a:spcBef>
              <a:spcAft>
                <a:spcPts val="0"/>
              </a:spcAft>
              <a:buSzPct val="100000"/>
              <a:buAutoNum type="arabicPeriod"/>
            </a:pPr>
            <a:r>
              <a:rPr b="1" lang="en" sz="1880"/>
              <a:t>Mesh/RF system</a:t>
            </a:r>
            <a:r>
              <a:rPr lang="en" sz="1880"/>
              <a:t> - Cole/Jaiah </a:t>
            </a:r>
            <a:endParaRPr sz="1880"/>
          </a:p>
          <a:p>
            <a:pPr indent="-330100" lvl="1" marL="914400" rtl="0" algn="l">
              <a:lnSpc>
                <a:spcPct val="115000"/>
              </a:lnSpc>
              <a:spcBef>
                <a:spcPts val="0"/>
              </a:spcBef>
              <a:spcAft>
                <a:spcPts val="0"/>
              </a:spcAft>
              <a:buSzPct val="100000"/>
              <a:buAutoNum type="alphaLcPeriod"/>
            </a:pPr>
            <a:r>
              <a:rPr lang="en" sz="1880"/>
              <a:t>Mesh algorithm/software (challenge)</a:t>
            </a:r>
            <a:endParaRPr sz="1880"/>
          </a:p>
          <a:p>
            <a:pPr indent="-330100" lvl="1" marL="914400" rtl="0" algn="l">
              <a:lnSpc>
                <a:spcPct val="115000"/>
              </a:lnSpc>
              <a:spcBef>
                <a:spcPts val="0"/>
              </a:spcBef>
              <a:spcAft>
                <a:spcPts val="0"/>
              </a:spcAft>
              <a:buSzPct val="100000"/>
              <a:buAutoNum type="alphaLcPeriod"/>
            </a:pPr>
            <a:r>
              <a:rPr lang="en" sz="1880"/>
              <a:t>Gateway Node system </a:t>
            </a:r>
            <a:endParaRPr sz="1880"/>
          </a:p>
          <a:p>
            <a:pPr indent="-330099" lvl="0" marL="457200" rtl="0" algn="l">
              <a:lnSpc>
                <a:spcPct val="115000"/>
              </a:lnSpc>
              <a:spcBef>
                <a:spcPts val="0"/>
              </a:spcBef>
              <a:spcAft>
                <a:spcPts val="0"/>
              </a:spcAft>
              <a:buSzPct val="100000"/>
              <a:buAutoNum type="arabicPeriod"/>
            </a:pPr>
            <a:r>
              <a:rPr b="1" lang="en" sz="1880"/>
              <a:t>MCU software/other hardware system</a:t>
            </a:r>
            <a:r>
              <a:rPr lang="en" sz="1880"/>
              <a:t> - Team (next semester)</a:t>
            </a:r>
            <a:endParaRPr sz="1880"/>
          </a:p>
          <a:p>
            <a:pPr indent="-330100" lvl="1" marL="914400" rtl="0" algn="l">
              <a:lnSpc>
                <a:spcPct val="115000"/>
              </a:lnSpc>
              <a:spcBef>
                <a:spcPts val="0"/>
              </a:spcBef>
              <a:spcAft>
                <a:spcPts val="0"/>
              </a:spcAft>
              <a:buSzPct val="100000"/>
              <a:buAutoNum type="alphaLcPeriod"/>
            </a:pPr>
            <a:r>
              <a:rPr lang="en" sz="1880"/>
              <a:t>All other MCU software</a:t>
            </a:r>
            <a:endParaRPr sz="1880"/>
          </a:p>
          <a:p>
            <a:pPr indent="-330100" lvl="1" marL="914400" rtl="0" algn="l">
              <a:lnSpc>
                <a:spcPct val="115000"/>
              </a:lnSpc>
              <a:spcBef>
                <a:spcPts val="0"/>
              </a:spcBef>
              <a:spcAft>
                <a:spcPts val="0"/>
              </a:spcAft>
              <a:buSzPct val="100000"/>
              <a:buAutoNum type="alphaLcPeriod"/>
            </a:pPr>
            <a:r>
              <a:rPr lang="en" sz="1880"/>
              <a:t>Launchpad hardware integration with other components</a:t>
            </a:r>
            <a:endParaRPr sz="1880"/>
          </a:p>
          <a:p>
            <a:pPr indent="-330100" lvl="1" marL="914400" rtl="0" algn="l">
              <a:lnSpc>
                <a:spcPct val="115000"/>
              </a:lnSpc>
              <a:spcBef>
                <a:spcPts val="0"/>
              </a:spcBef>
              <a:spcAft>
                <a:spcPts val="0"/>
              </a:spcAft>
              <a:buSzPct val="100000"/>
              <a:buAutoNum type="alphaLcPeriod"/>
            </a:pPr>
            <a:r>
              <a:rPr lang="en" sz="1880"/>
              <a:t>Case Hardware/display hardware/push-to-talk hardware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Mesh System</a:t>
            </a:r>
            <a:endParaRPr/>
          </a:p>
        </p:txBody>
      </p:sp>
      <p:sp>
        <p:nvSpPr>
          <p:cNvPr id="70" name="Google Shape;70;p13"/>
          <p:cNvSpPr txBox="1"/>
          <p:nvPr>
            <p:ph idx="1" type="body"/>
          </p:nvPr>
        </p:nvSpPr>
        <p:spPr>
          <a:xfrm>
            <a:off x="404850" y="959575"/>
            <a:ext cx="6448800" cy="3485400"/>
          </a:xfrm>
          <a:prstGeom prst="rect">
            <a:avLst/>
          </a:prstGeom>
        </p:spPr>
        <p:txBody>
          <a:bodyPr anchorCtr="0" anchor="t" bIns="34275" lIns="68575" spcFirstLastPara="1" rIns="68575" wrap="square" tIns="34275">
            <a:normAutofit/>
          </a:bodyPr>
          <a:lstStyle/>
          <a:p>
            <a:pPr indent="0" lvl="0" marL="0" rtl="0" algn="l">
              <a:spcBef>
                <a:spcPts val="500"/>
              </a:spcBef>
              <a:spcAft>
                <a:spcPts val="0"/>
              </a:spcAft>
              <a:buNone/>
            </a:pPr>
            <a:r>
              <a:rPr lang="en" sz="2200"/>
              <a:t>Zigbee</a:t>
            </a:r>
            <a:endParaRPr sz="2200"/>
          </a:p>
          <a:p>
            <a:pPr indent="0" lvl="0" marL="0" rtl="0" algn="l">
              <a:spcBef>
                <a:spcPts val="500"/>
              </a:spcBef>
              <a:spcAft>
                <a:spcPts val="0"/>
              </a:spcAft>
              <a:buNone/>
            </a:pPr>
            <a:r>
              <a:t/>
            </a:r>
            <a:endParaRPr/>
          </a:p>
          <a:p>
            <a:pPr indent="0" lvl="0" marL="0" rtl="0" algn="l">
              <a:spcBef>
                <a:spcPts val="500"/>
              </a:spcBef>
              <a:spcAft>
                <a:spcPts val="0"/>
              </a:spcAft>
              <a:buNone/>
            </a:pPr>
            <a:r>
              <a:t/>
            </a:r>
            <a:endParaRPr/>
          </a:p>
          <a:p>
            <a:pPr indent="0" lvl="0" marL="0" rtl="0" algn="l">
              <a:spcBef>
                <a:spcPts val="500"/>
              </a:spcBef>
              <a:spcAft>
                <a:spcPts val="0"/>
              </a:spcAft>
              <a:buNone/>
            </a:pPr>
            <a:r>
              <a:t/>
            </a:r>
            <a:endParaRPr/>
          </a:p>
          <a:p>
            <a:pPr indent="0" lvl="0" marL="0" rtl="0" algn="l">
              <a:spcBef>
                <a:spcPts val="500"/>
              </a:spcBef>
              <a:spcAft>
                <a:spcPts val="0"/>
              </a:spcAft>
              <a:buNone/>
            </a:pPr>
            <a:r>
              <a:rPr lang="en" sz="2200"/>
              <a:t>Wi-SUN*</a:t>
            </a:r>
            <a:endParaRPr sz="2200"/>
          </a:p>
        </p:txBody>
      </p:sp>
      <p:graphicFrame>
        <p:nvGraphicFramePr>
          <p:cNvPr id="71" name="Google Shape;71;p13"/>
          <p:cNvGraphicFramePr/>
          <p:nvPr/>
        </p:nvGraphicFramePr>
        <p:xfrm>
          <a:off x="482600" y="1249888"/>
          <a:ext cx="3000000" cy="3000000"/>
        </p:xfrm>
        <a:graphic>
          <a:graphicData uri="http://schemas.openxmlformats.org/drawingml/2006/table">
            <a:tbl>
              <a:tblPr>
                <a:noFill/>
                <a:tableStyleId>{FDDA22A7-8006-40A1-9491-49F0D367E2E7}</a:tableStyleId>
              </a:tblPr>
              <a:tblGrid>
                <a:gridCol w="2709975"/>
                <a:gridCol w="4319200"/>
              </a:tblGrid>
              <a:tr h="319350">
                <a:tc>
                  <a:txBody>
                    <a:bodyPr/>
                    <a:lstStyle/>
                    <a:p>
                      <a:pPr indent="0" lvl="0" marL="0" rtl="0" algn="l">
                        <a:spcBef>
                          <a:spcPts val="0"/>
                        </a:spcBef>
                        <a:spcAft>
                          <a:spcPts val="0"/>
                        </a:spcAft>
                        <a:buNone/>
                      </a:pPr>
                      <a:r>
                        <a:rPr b="1" lang="en" sz="1000"/>
                        <a:t>Pros</a:t>
                      </a:r>
                      <a:endParaRPr b="1"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sz="1000"/>
                        <a:t>Cons</a:t>
                      </a:r>
                      <a:endParaRPr b="1"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52650">
                <a:tc>
                  <a:txBody>
                    <a:bodyPr/>
                    <a:lstStyle/>
                    <a:p>
                      <a:pPr indent="0" lvl="0" marL="0" rtl="0" algn="l">
                        <a:spcBef>
                          <a:spcPts val="0"/>
                        </a:spcBef>
                        <a:spcAft>
                          <a:spcPts val="0"/>
                        </a:spcAft>
                        <a:buNone/>
                      </a:pPr>
                      <a:r>
                        <a:rPr lang="en" sz="1000"/>
                        <a:t>Well established, abundant support</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t>2.4 GHz band (congestion, interference heavy)?</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56525">
                <a:tc>
                  <a:txBody>
                    <a:bodyPr/>
                    <a:lstStyle/>
                    <a:p>
                      <a:pPr indent="0" lvl="0" marL="0" rtl="0" algn="l">
                        <a:spcBef>
                          <a:spcPts val="0"/>
                        </a:spcBef>
                        <a:spcAft>
                          <a:spcPts val="0"/>
                        </a:spcAft>
                        <a:buNone/>
                      </a:pPr>
                      <a:r>
                        <a:rPr lang="en" sz="1000"/>
                        <a:t>Higher data rate for increased audio quality</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t>Larger power consumption</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30375">
                <a:tc>
                  <a:txBody>
                    <a:bodyPr/>
                    <a:lstStyle/>
                    <a:p>
                      <a:pPr indent="0" lvl="0" marL="0" rtl="0" algn="l">
                        <a:spcBef>
                          <a:spcPts val="0"/>
                        </a:spcBef>
                        <a:spcAft>
                          <a:spcPts val="0"/>
                        </a:spcAft>
                        <a:buNone/>
                      </a:pPr>
                      <a:r>
                        <a:rPr lang="en" sz="1000"/>
                        <a:t>Low latency</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graphicFrame>
        <p:nvGraphicFramePr>
          <p:cNvPr id="72" name="Google Shape;72;p13"/>
          <p:cNvGraphicFramePr/>
          <p:nvPr/>
        </p:nvGraphicFramePr>
        <p:xfrm>
          <a:off x="482600" y="2993825"/>
          <a:ext cx="3000000" cy="3000000"/>
        </p:xfrm>
        <a:graphic>
          <a:graphicData uri="http://schemas.openxmlformats.org/drawingml/2006/table">
            <a:tbl>
              <a:tblPr>
                <a:noFill/>
                <a:tableStyleId>{FDDA22A7-8006-40A1-9491-49F0D367E2E7}</a:tableStyleId>
              </a:tblPr>
              <a:tblGrid>
                <a:gridCol w="2744950"/>
                <a:gridCol w="4284225"/>
              </a:tblGrid>
              <a:tr h="319350">
                <a:tc>
                  <a:txBody>
                    <a:bodyPr/>
                    <a:lstStyle/>
                    <a:p>
                      <a:pPr indent="0" lvl="0" marL="0" rtl="0" algn="l">
                        <a:spcBef>
                          <a:spcPts val="0"/>
                        </a:spcBef>
                        <a:spcAft>
                          <a:spcPts val="0"/>
                        </a:spcAft>
                        <a:buNone/>
                      </a:pPr>
                      <a:r>
                        <a:rPr b="1" lang="en" sz="1000"/>
                        <a:t>Pros</a:t>
                      </a:r>
                      <a:endParaRPr b="1"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sz="1000"/>
                        <a:t>Cons</a:t>
                      </a:r>
                      <a:endParaRPr b="1"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56525">
                <a:tc>
                  <a:txBody>
                    <a:bodyPr/>
                    <a:lstStyle/>
                    <a:p>
                      <a:pPr indent="0" lvl="0" marL="0" rtl="0" algn="l">
                        <a:spcBef>
                          <a:spcPts val="0"/>
                        </a:spcBef>
                        <a:spcAft>
                          <a:spcPts val="0"/>
                        </a:spcAft>
                        <a:buNone/>
                      </a:pPr>
                      <a:r>
                        <a:rPr lang="en" sz="1000"/>
                        <a:t>Longer Range</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t>Lower data rate, increased latency</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56525">
                <a:tc>
                  <a:txBody>
                    <a:bodyPr/>
                    <a:lstStyle/>
                    <a:p>
                      <a:pPr indent="0" lvl="0" marL="0" rtl="0" algn="l">
                        <a:spcBef>
                          <a:spcPts val="0"/>
                        </a:spcBef>
                        <a:spcAft>
                          <a:spcPts val="0"/>
                        </a:spcAft>
                        <a:buNone/>
                      </a:pPr>
                      <a:r>
                        <a:rPr lang="en" sz="1000"/>
                        <a:t>Lower Power Consumption</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t>Less maturity in consumer market</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19350">
                <a:tc>
                  <a:txBody>
                    <a:bodyPr/>
                    <a:lstStyle/>
                    <a:p>
                      <a:pPr indent="0" lvl="0" marL="0" rtl="0" algn="l">
                        <a:spcBef>
                          <a:spcPts val="0"/>
                        </a:spcBef>
                        <a:spcAft>
                          <a:spcPts val="0"/>
                        </a:spcAft>
                        <a:buNone/>
                      </a:pPr>
                      <a:r>
                        <a:rPr lang="en" sz="1000"/>
                        <a:t>Less Interference</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t>Potentially more complex, less support</a:t>
                      </a:r>
                      <a:endParaRPr sz="10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3" name="Google Shape;73;p13"/>
          <p:cNvSpPr txBox="1"/>
          <p:nvPr/>
        </p:nvSpPr>
        <p:spPr>
          <a:xfrm>
            <a:off x="6309225" y="1249900"/>
            <a:ext cx="2499300" cy="3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In order to avoid using a main hub in our mesh topology, Wi-SUN would likely be the better option. Although abundant support exists for Zigbee, Wi-SUN is naturally designed for decentralized mesh networking, without the need for a central hub or coordinator. This allows for a more flexible deployment of walkie-talkies that can communicate directly with each other or relay messages through other nodes.</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Mesh System (Continued)</a:t>
            </a:r>
            <a:endParaRPr/>
          </a:p>
        </p:txBody>
      </p:sp>
      <p:sp>
        <p:nvSpPr>
          <p:cNvPr id="79" name="Google Shape;79;p14"/>
          <p:cNvSpPr txBox="1"/>
          <p:nvPr>
            <p:ph idx="1" type="body"/>
          </p:nvPr>
        </p:nvSpPr>
        <p:spPr>
          <a:xfrm>
            <a:off x="457200" y="1109133"/>
            <a:ext cx="8229600" cy="3485400"/>
          </a:xfrm>
          <a:prstGeom prst="rect">
            <a:avLst/>
          </a:prstGeom>
        </p:spPr>
        <p:txBody>
          <a:bodyPr anchorCtr="0" anchor="t" bIns="34275" lIns="68575" spcFirstLastPara="1" rIns="68575" wrap="square" tIns="34275">
            <a:normAutofit lnSpcReduction="10000"/>
          </a:bodyPr>
          <a:lstStyle/>
          <a:p>
            <a:pPr indent="0" lvl="0" marL="0" rtl="0" algn="l">
              <a:spcBef>
                <a:spcPts val="500"/>
              </a:spcBef>
              <a:spcAft>
                <a:spcPts val="0"/>
              </a:spcAft>
              <a:buNone/>
            </a:pPr>
            <a:r>
              <a:rPr lang="en"/>
              <a:t>Wi-SUN potential restraints:</a:t>
            </a:r>
            <a:endParaRPr/>
          </a:p>
          <a:p>
            <a:pPr indent="0" lvl="0" marL="0" rtl="0" algn="l">
              <a:spcBef>
                <a:spcPts val="500"/>
              </a:spcBef>
              <a:spcAft>
                <a:spcPts val="0"/>
              </a:spcAft>
              <a:buNone/>
            </a:pPr>
            <a:r>
              <a:t/>
            </a:r>
            <a:endParaRPr b="1" sz="1500"/>
          </a:p>
          <a:p>
            <a:pPr indent="0" lvl="0" marL="0" rtl="0" algn="l">
              <a:spcBef>
                <a:spcPts val="500"/>
              </a:spcBef>
              <a:spcAft>
                <a:spcPts val="0"/>
              </a:spcAft>
              <a:buNone/>
            </a:pPr>
            <a:r>
              <a:rPr b="1" lang="en" sz="1500"/>
              <a:t>IoT Focus - </a:t>
            </a:r>
            <a:r>
              <a:rPr lang="en" sz="1500"/>
              <a:t>Wi-SUN is optimized for IoT applications, which typically involve small, intermittent data packets (like sensor readings). Continuous audio streaming is different and may introduce protocol overhead that impacts efficiency and real-time performance.</a:t>
            </a:r>
            <a:endParaRPr sz="1500"/>
          </a:p>
          <a:p>
            <a:pPr indent="0" lvl="0" marL="0" rtl="0" algn="l">
              <a:spcBef>
                <a:spcPts val="500"/>
              </a:spcBef>
              <a:spcAft>
                <a:spcPts val="0"/>
              </a:spcAft>
              <a:buNone/>
            </a:pPr>
            <a:r>
              <a:t/>
            </a:r>
            <a:endParaRPr b="1" sz="1500"/>
          </a:p>
          <a:p>
            <a:pPr indent="0" lvl="0" marL="0" rtl="0" algn="l">
              <a:spcBef>
                <a:spcPts val="500"/>
              </a:spcBef>
              <a:spcAft>
                <a:spcPts val="0"/>
              </a:spcAft>
              <a:buNone/>
            </a:pPr>
            <a:r>
              <a:rPr b="1" lang="en" sz="1500"/>
              <a:t>Compression Requirements - </a:t>
            </a:r>
            <a:r>
              <a:rPr lang="en" sz="1500"/>
              <a:t>Need to compress audio to ~200Kbps minimum while maintaining low latency</a:t>
            </a:r>
            <a:endParaRPr sz="1500"/>
          </a:p>
          <a:p>
            <a:pPr indent="0" lvl="0" marL="0" rtl="0" algn="l">
              <a:spcBef>
                <a:spcPts val="500"/>
              </a:spcBef>
              <a:spcAft>
                <a:spcPts val="0"/>
              </a:spcAft>
              <a:buNone/>
            </a:pPr>
            <a:r>
              <a:t/>
            </a:r>
            <a:endParaRPr b="1" sz="1500"/>
          </a:p>
          <a:p>
            <a:pPr indent="0" lvl="0" marL="0" rtl="0" algn="l">
              <a:spcBef>
                <a:spcPts val="500"/>
              </a:spcBef>
              <a:spcAft>
                <a:spcPts val="0"/>
              </a:spcAft>
              <a:buNone/>
            </a:pPr>
            <a:r>
              <a:rPr b="1" lang="en" sz="1500"/>
              <a:t>Antennas -</a:t>
            </a:r>
            <a:r>
              <a:rPr lang="en" sz="1500"/>
              <a:t> Need antennas compatible with the sub-1 GHz band to transmit and receive signals. Included in LP?</a:t>
            </a:r>
            <a:endParaRPr sz="1500"/>
          </a:p>
          <a:p>
            <a:pPr indent="0" lvl="0" marL="0" rtl="0" algn="l">
              <a:spcBef>
                <a:spcPts val="500"/>
              </a:spcBef>
              <a:spcAft>
                <a:spcPts val="0"/>
              </a:spcAft>
              <a:buNone/>
            </a:pPr>
            <a:r>
              <a:t/>
            </a:r>
            <a:endParaRPr sz="1100"/>
          </a:p>
          <a:p>
            <a:pPr indent="0" lvl="0" marL="0" rtl="0" algn="l">
              <a:spcBef>
                <a:spcPts val="500"/>
              </a:spcBef>
              <a:spcAft>
                <a:spcPts val="0"/>
              </a:spcAft>
              <a:buNone/>
            </a:pPr>
            <a:r>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SzPts val="990"/>
              <a:buNone/>
            </a:pPr>
            <a:r>
              <a:rPr lang="en" sz="2330"/>
              <a:t>Voice Coder (Compression) Algorithms</a:t>
            </a:r>
            <a:endParaRPr sz="2330"/>
          </a:p>
        </p:txBody>
      </p:sp>
      <p:sp>
        <p:nvSpPr>
          <p:cNvPr id="85" name="Google Shape;85;p15"/>
          <p:cNvSpPr txBox="1"/>
          <p:nvPr>
            <p:ph idx="1" type="body"/>
          </p:nvPr>
        </p:nvSpPr>
        <p:spPr>
          <a:xfrm>
            <a:off x="457200" y="1109133"/>
            <a:ext cx="8229600" cy="3485400"/>
          </a:xfrm>
          <a:prstGeom prst="rect">
            <a:avLst/>
          </a:prstGeom>
        </p:spPr>
        <p:txBody>
          <a:bodyPr anchorCtr="0" anchor="t" bIns="34275" lIns="68575" spcFirstLastPara="1" rIns="68575" wrap="square" tIns="34275">
            <a:normAutofit/>
          </a:bodyPr>
          <a:lstStyle/>
          <a:p>
            <a:pPr indent="0" lvl="0" marL="0" rtl="0" algn="l">
              <a:spcBef>
                <a:spcPts val="500"/>
              </a:spcBef>
              <a:spcAft>
                <a:spcPts val="0"/>
              </a:spcAft>
              <a:buNone/>
            </a:pPr>
            <a:r>
              <a:rPr lang="en" sz="1500"/>
              <a:t>Opus Codec </a:t>
            </a:r>
            <a:endParaRPr sz="1500"/>
          </a:p>
          <a:p>
            <a:pPr indent="-323850" lvl="0" marL="457200" rtl="0" algn="l">
              <a:spcBef>
                <a:spcPts val="500"/>
              </a:spcBef>
              <a:spcAft>
                <a:spcPts val="0"/>
              </a:spcAft>
              <a:buSzPts val="1500"/>
              <a:buChar char="-"/>
            </a:pPr>
            <a:r>
              <a:rPr lang="en" sz="1500"/>
              <a:t>Meets all of the minimum system requirements</a:t>
            </a:r>
            <a:endParaRPr sz="1500"/>
          </a:p>
          <a:p>
            <a:pPr indent="-298450" lvl="1" marL="914400" rtl="0" algn="l">
              <a:lnSpc>
                <a:spcPct val="115000"/>
              </a:lnSpc>
              <a:spcBef>
                <a:spcPts val="0"/>
              </a:spcBef>
              <a:spcAft>
                <a:spcPts val="0"/>
              </a:spcAft>
              <a:buSzPts val="1100"/>
              <a:buChar char="-"/>
            </a:pPr>
            <a:r>
              <a:rPr lang="en" sz="1500"/>
              <a:t>Bitrates from 6 kb/s to 510 kb/s</a:t>
            </a:r>
            <a:endParaRPr sz="1500"/>
          </a:p>
          <a:p>
            <a:pPr indent="-298450" lvl="1" marL="914400" rtl="0" algn="l">
              <a:lnSpc>
                <a:spcPct val="115000"/>
              </a:lnSpc>
              <a:spcBef>
                <a:spcPts val="0"/>
              </a:spcBef>
              <a:spcAft>
                <a:spcPts val="0"/>
              </a:spcAft>
              <a:buSzPts val="1100"/>
              <a:buChar char="-"/>
            </a:pPr>
            <a:r>
              <a:rPr lang="en" sz="1500"/>
              <a:t>Sampling rates from 8 kHz (narrowband) to 48 kHz (fullband)</a:t>
            </a:r>
            <a:endParaRPr sz="1500"/>
          </a:p>
          <a:p>
            <a:pPr indent="-323850" lvl="0" marL="457200" rtl="0" algn="l">
              <a:spcBef>
                <a:spcPts val="0"/>
              </a:spcBef>
              <a:spcAft>
                <a:spcPts val="0"/>
              </a:spcAft>
              <a:buSzPts val="1500"/>
              <a:buChar char="-"/>
            </a:pPr>
            <a:r>
              <a:rPr lang="en" sz="1500"/>
              <a:t>All of the resources are open source</a:t>
            </a:r>
            <a:endParaRPr sz="1500"/>
          </a:p>
          <a:p>
            <a:pPr indent="-323850" lvl="0" marL="457200" rtl="0" algn="l">
              <a:spcBef>
                <a:spcPts val="0"/>
              </a:spcBef>
              <a:spcAft>
                <a:spcPts val="0"/>
              </a:spcAft>
              <a:buSzPts val="1500"/>
              <a:buChar char="-"/>
            </a:pPr>
            <a:r>
              <a:rPr lang="en" sz="1500"/>
              <a:t>Has Speech Support</a:t>
            </a:r>
            <a:endParaRPr sz="1500"/>
          </a:p>
          <a:p>
            <a:pPr indent="-323850" lvl="0" marL="457200" rtl="0" algn="l">
              <a:spcBef>
                <a:spcPts val="0"/>
              </a:spcBef>
              <a:spcAft>
                <a:spcPts val="0"/>
              </a:spcAft>
              <a:buSzPts val="1500"/>
              <a:buChar char="-"/>
            </a:pPr>
            <a:r>
              <a:rPr lang="en" sz="1500"/>
              <a:t>Designed for low latency</a:t>
            </a:r>
            <a:endParaRPr sz="1500"/>
          </a:p>
          <a:p>
            <a:pPr indent="0" lvl="0" marL="0" rtl="0" algn="l">
              <a:spcBef>
                <a:spcPts val="500"/>
              </a:spcBef>
              <a:spcAft>
                <a:spcPts val="0"/>
              </a:spcAft>
              <a:buNone/>
            </a:pPr>
            <a:r>
              <a:t/>
            </a:r>
            <a:endParaRPr sz="1500"/>
          </a:p>
        </p:txBody>
      </p:sp>
      <p:pic>
        <p:nvPicPr>
          <p:cNvPr id="86" name="Google Shape;86;p15"/>
          <p:cNvPicPr preferRelativeResize="0"/>
          <p:nvPr/>
        </p:nvPicPr>
        <p:blipFill>
          <a:blip r:embed="rId3">
            <a:alphaModFix/>
          </a:blip>
          <a:stretch>
            <a:fillRect/>
          </a:stretch>
        </p:blipFill>
        <p:spPr>
          <a:xfrm>
            <a:off x="5165428" y="2190850"/>
            <a:ext cx="3521375" cy="2756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Power System </a:t>
            </a:r>
            <a:endParaRPr/>
          </a:p>
        </p:txBody>
      </p:sp>
      <p:sp>
        <p:nvSpPr>
          <p:cNvPr id="92" name="Google Shape;92;p16"/>
          <p:cNvSpPr txBox="1"/>
          <p:nvPr>
            <p:ph idx="1" type="body"/>
          </p:nvPr>
        </p:nvSpPr>
        <p:spPr>
          <a:xfrm>
            <a:off x="457200" y="1109133"/>
            <a:ext cx="8229600" cy="3485400"/>
          </a:xfrm>
          <a:prstGeom prst="rect">
            <a:avLst/>
          </a:prstGeom>
        </p:spPr>
        <p:txBody>
          <a:bodyPr anchorCtr="0" anchor="t" bIns="34275" lIns="68575" spcFirstLastPara="1" rIns="68575" wrap="square" tIns="34275">
            <a:normAutofit/>
          </a:bodyPr>
          <a:lstStyle/>
          <a:p>
            <a:pPr indent="0" lvl="0" marL="0" rtl="0" algn="l">
              <a:spcBef>
                <a:spcPts val="500"/>
              </a:spcBef>
              <a:spcAft>
                <a:spcPts val="0"/>
              </a:spcAft>
              <a:buNone/>
            </a:pPr>
            <a:r>
              <a:rPr lang="en" sz="1500"/>
              <a:t>Rechargeable Lithium Battery</a:t>
            </a:r>
            <a:endParaRPr sz="1500"/>
          </a:p>
          <a:p>
            <a:pPr indent="-323850" lvl="0" marL="457200" rtl="0" algn="l">
              <a:spcBef>
                <a:spcPts val="500"/>
              </a:spcBef>
              <a:spcAft>
                <a:spcPts val="0"/>
              </a:spcAft>
              <a:buSzPts val="1500"/>
              <a:buChar char="-"/>
            </a:pPr>
            <a:r>
              <a:rPr lang="en" sz="1500"/>
              <a:t>Have a low power mode </a:t>
            </a:r>
            <a:r>
              <a:rPr lang="en" sz="1500"/>
              <a:t>available</a:t>
            </a:r>
            <a:r>
              <a:rPr lang="en" sz="1500"/>
              <a:t> when device is not being used</a:t>
            </a:r>
            <a:endParaRPr sz="1500"/>
          </a:p>
          <a:p>
            <a:pPr indent="-323850" lvl="0" marL="457200" rtl="0" algn="l">
              <a:spcBef>
                <a:spcPts val="0"/>
              </a:spcBef>
              <a:spcAft>
                <a:spcPts val="0"/>
              </a:spcAft>
              <a:buSzPts val="1500"/>
              <a:buChar char="-"/>
            </a:pPr>
            <a:r>
              <a:rPr lang="en" sz="1500"/>
              <a:t>Battery Management System (BMS)</a:t>
            </a:r>
            <a:endParaRPr sz="1500"/>
          </a:p>
          <a:p>
            <a:pPr indent="-323850" lvl="1" marL="914400" rtl="0" algn="l">
              <a:spcBef>
                <a:spcPts val="0"/>
              </a:spcBef>
              <a:spcAft>
                <a:spcPts val="0"/>
              </a:spcAft>
              <a:buSzPts val="1500"/>
              <a:buChar char="-"/>
            </a:pPr>
            <a:r>
              <a:rPr lang="en" sz="1500"/>
              <a:t>Prevent overcharging the battery or discharging the battery</a:t>
            </a:r>
            <a:endParaRPr sz="1500"/>
          </a:p>
          <a:p>
            <a:pPr indent="-323850" lvl="1" marL="914400" rtl="0" algn="l">
              <a:spcBef>
                <a:spcPts val="0"/>
              </a:spcBef>
              <a:spcAft>
                <a:spcPts val="0"/>
              </a:spcAft>
              <a:buSzPts val="1500"/>
              <a:buChar char="-"/>
            </a:pPr>
            <a:r>
              <a:rPr lang="en" sz="1500"/>
              <a:t>Monitor the temperature of the battery to make sure it doesn’t overheat</a:t>
            </a:r>
            <a:endParaRPr sz="1500"/>
          </a:p>
          <a:p>
            <a:pPr indent="-323850" lvl="1" marL="914400" rtl="0" algn="l">
              <a:spcBef>
                <a:spcPts val="0"/>
              </a:spcBef>
              <a:spcAft>
                <a:spcPts val="0"/>
              </a:spcAft>
              <a:buSzPts val="1500"/>
              <a:buChar char="-"/>
            </a:pPr>
            <a:r>
              <a:rPr lang="en" sz="1500"/>
              <a:t>Check voltages and currents</a:t>
            </a:r>
            <a:endParaRPr sz="1500"/>
          </a:p>
          <a:p>
            <a:pPr indent="-323850" lvl="1" marL="914400" rtl="0" algn="l">
              <a:spcBef>
                <a:spcPts val="0"/>
              </a:spcBef>
              <a:spcAft>
                <a:spcPts val="0"/>
              </a:spcAft>
              <a:buSzPts val="1500"/>
              <a:buChar char="-"/>
            </a:pPr>
            <a:r>
              <a:rPr lang="en" sz="1500"/>
              <a:t>State of Charge (SoC)</a:t>
            </a:r>
            <a:endParaRPr sz="1500"/>
          </a:p>
          <a:p>
            <a:pPr indent="-323850" lvl="1" marL="914400" rtl="0" algn="l">
              <a:spcBef>
                <a:spcPts val="0"/>
              </a:spcBef>
              <a:spcAft>
                <a:spcPts val="0"/>
              </a:spcAft>
              <a:buSzPts val="1500"/>
              <a:buChar char="-"/>
            </a:pPr>
            <a:r>
              <a:rPr lang="en" sz="1500"/>
              <a:t>State of Health (SoH)</a:t>
            </a:r>
            <a:endParaRPr sz="1500"/>
          </a:p>
          <a:p>
            <a:pPr indent="-323850" lvl="0" marL="457200" rtl="0" algn="l">
              <a:spcBef>
                <a:spcPts val="0"/>
              </a:spcBef>
              <a:spcAft>
                <a:spcPts val="0"/>
              </a:spcAft>
              <a:buSzPts val="1500"/>
              <a:buChar char="-"/>
            </a:pPr>
            <a:r>
              <a:rPr lang="en" sz="1500"/>
              <a:t>Power distribution</a:t>
            </a:r>
            <a:endParaRPr sz="1500"/>
          </a:p>
          <a:p>
            <a:pPr indent="-323850" lvl="1" marL="914400" rtl="0" algn="l">
              <a:spcBef>
                <a:spcPts val="0"/>
              </a:spcBef>
              <a:spcAft>
                <a:spcPts val="0"/>
              </a:spcAft>
              <a:buSzPts val="1500"/>
              <a:buChar char="-"/>
            </a:pPr>
            <a:r>
              <a:rPr lang="en" sz="1500"/>
              <a:t>Make sure all loads are efficiently receiving power</a:t>
            </a:r>
            <a:endParaRPr sz="1500"/>
          </a:p>
          <a:p>
            <a:pPr indent="-323850" lvl="1" marL="914400" rtl="0" algn="l">
              <a:spcBef>
                <a:spcPts val="0"/>
              </a:spcBef>
              <a:spcAft>
                <a:spcPts val="0"/>
              </a:spcAft>
              <a:buSzPts val="1500"/>
              <a:buChar char="-"/>
            </a:pPr>
            <a:r>
              <a:rPr lang="en" sz="1500"/>
              <a:t>All power converters are being used efficiently</a:t>
            </a:r>
            <a:endParaRPr sz="1500"/>
          </a:p>
          <a:p>
            <a:pPr indent="-323850" lvl="2" marL="1371600" rtl="0" algn="l">
              <a:spcBef>
                <a:spcPts val="0"/>
              </a:spcBef>
              <a:spcAft>
                <a:spcPts val="0"/>
              </a:spcAft>
              <a:buSzPts val="1500"/>
              <a:buChar char="-"/>
            </a:pPr>
            <a:r>
              <a:rPr lang="en" sz="1500"/>
              <a:t>Make sure each subsystem gets the right type of power (AC/DC) and the right values</a:t>
            </a:r>
            <a:endParaRPr sz="1500"/>
          </a:p>
          <a:p>
            <a:pPr indent="0" lvl="0" marL="0" rtl="0" algn="l">
              <a:spcBef>
                <a:spcPts val="500"/>
              </a:spcBef>
              <a:spcAft>
                <a:spcPts val="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Questions</a:t>
            </a:r>
            <a:endParaRPr/>
          </a:p>
        </p:txBody>
      </p:sp>
      <p:sp>
        <p:nvSpPr>
          <p:cNvPr id="98" name="Google Shape;98;p17"/>
          <p:cNvSpPr txBox="1"/>
          <p:nvPr>
            <p:ph idx="1" type="body"/>
          </p:nvPr>
        </p:nvSpPr>
        <p:spPr>
          <a:xfrm>
            <a:off x="457200" y="1109133"/>
            <a:ext cx="8229600" cy="3485400"/>
          </a:xfrm>
          <a:prstGeom prst="rect">
            <a:avLst/>
          </a:prstGeom>
        </p:spPr>
        <p:txBody>
          <a:bodyPr anchorCtr="0" anchor="t" bIns="34275" lIns="68575" spcFirstLastPara="1" rIns="68575" wrap="square" tIns="34275">
            <a:normAutofit/>
          </a:bodyPr>
          <a:lstStyle/>
          <a:p>
            <a:pPr indent="0" lvl="0" marL="0" rtl="0" algn="l">
              <a:spcBef>
                <a:spcPts val="500"/>
              </a:spcBef>
              <a:spcAft>
                <a:spcPts val="0"/>
              </a:spcAft>
              <a:buNone/>
            </a:pPr>
            <a:r>
              <a:rPr lang="en" sz="1500"/>
              <a:t>Subsystem Split - How can we </a:t>
            </a:r>
            <a:r>
              <a:rPr lang="en" sz="1500"/>
              <a:t>develop</a:t>
            </a:r>
            <a:r>
              <a:rPr lang="en" sz="1500"/>
              <a:t> individually to demo at the end of the semester?</a:t>
            </a:r>
            <a:endParaRPr sz="1500"/>
          </a:p>
          <a:p>
            <a:pPr indent="0" lvl="0" marL="0" rtl="0" algn="l">
              <a:spcBef>
                <a:spcPts val="500"/>
              </a:spcBef>
              <a:spcAft>
                <a:spcPts val="0"/>
              </a:spcAft>
              <a:buNone/>
            </a:pPr>
            <a:r>
              <a:rPr lang="en" sz="1500"/>
              <a:t>Hello World - walkthrough of launchpad “hello world” c code post CCS, SDK download. (SimpleLinkSDK? SMARTRFTM Studio?)</a:t>
            </a:r>
            <a:endParaRPr sz="1500"/>
          </a:p>
          <a:p>
            <a:pPr indent="0" lvl="0" marL="0" rtl="0" algn="l">
              <a:spcBef>
                <a:spcPts val="500"/>
              </a:spcBef>
              <a:spcAft>
                <a:spcPts val="0"/>
              </a:spcAft>
              <a:buNone/>
            </a:pPr>
            <a:r>
              <a:rPr lang="en" sz="1500"/>
              <a:t>PCB </a:t>
            </a:r>
            <a:r>
              <a:rPr lang="en" sz="1500"/>
              <a:t>design</a:t>
            </a:r>
            <a:r>
              <a:rPr lang="en" sz="1500"/>
              <a:t>? Are we using the launchpads in </a:t>
            </a:r>
            <a:r>
              <a:rPr lang="en" sz="1500"/>
              <a:t>the final implementation?</a:t>
            </a:r>
            <a:endParaRPr sz="1500"/>
          </a:p>
          <a:p>
            <a:pPr indent="0" lvl="0" marL="0" rtl="0" algn="l">
              <a:spcBef>
                <a:spcPts val="500"/>
              </a:spcBef>
              <a:spcAft>
                <a:spcPts val="0"/>
              </a:spcAft>
              <a:buNone/>
            </a:pPr>
            <a:r>
              <a:rPr lang="en" sz="1500"/>
              <a:t>Other part purchases: LCD, Analog Audio, Batteries</a:t>
            </a:r>
            <a:endParaRPr sz="1500"/>
          </a:p>
          <a:p>
            <a:pPr indent="0" lvl="0" marL="0" rtl="0" algn="l">
              <a:spcBef>
                <a:spcPts val="500"/>
              </a:spcBef>
              <a:spcAft>
                <a:spcPts val="0"/>
              </a:spcAft>
              <a:buNone/>
            </a:pPr>
            <a:r>
              <a:rPr lang="en" sz="1500"/>
              <a:t>How many launchpads can we get? - many RF/Mesh demos require more than one launchpad</a:t>
            </a:r>
            <a:endParaRPr sz="1500"/>
          </a:p>
          <a:p>
            <a:pPr indent="0" lvl="0" marL="0" rtl="0" algn="l">
              <a:spcBef>
                <a:spcPts val="500"/>
              </a:spcBef>
              <a:spcAft>
                <a:spcPts val="0"/>
              </a:spcAft>
              <a:buNone/>
            </a:pPr>
            <a:r>
              <a:t/>
            </a:r>
            <a:endParaRPr sz="1500"/>
          </a:p>
          <a:p>
            <a:pPr indent="0" lvl="0" marL="0" rtl="0" algn="l">
              <a:spcBef>
                <a:spcPts val="500"/>
              </a:spcBef>
              <a:spcAft>
                <a:spcPts val="0"/>
              </a:spcAft>
              <a:buNone/>
            </a:pPr>
            <a:r>
              <a:t/>
            </a:r>
            <a:endParaRPr sz="1500"/>
          </a:p>
          <a:p>
            <a:pPr indent="0" lvl="0" marL="0" rtl="0" algn="l">
              <a:spcBef>
                <a:spcPts val="500"/>
              </a:spcBef>
              <a:spcAft>
                <a:spcPts val="0"/>
              </a:spcAft>
              <a:buNone/>
            </a:pPr>
            <a:r>
              <a:t/>
            </a:r>
            <a:endParaRPr sz="1500"/>
          </a:p>
          <a:p>
            <a:pPr indent="0" lvl="0" marL="0" rtl="0" algn="l">
              <a:spcBef>
                <a:spcPts val="5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82600" y="169433"/>
            <a:ext cx="5765700" cy="693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Sources</a:t>
            </a:r>
            <a:endParaRPr/>
          </a:p>
        </p:txBody>
      </p:sp>
      <p:sp>
        <p:nvSpPr>
          <p:cNvPr id="104" name="Google Shape;104;p18"/>
          <p:cNvSpPr txBox="1"/>
          <p:nvPr>
            <p:ph idx="1" type="body"/>
          </p:nvPr>
        </p:nvSpPr>
        <p:spPr>
          <a:xfrm>
            <a:off x="457200" y="1109133"/>
            <a:ext cx="8229600" cy="3485400"/>
          </a:xfrm>
          <a:prstGeom prst="rect">
            <a:avLst/>
          </a:prstGeom>
        </p:spPr>
        <p:txBody>
          <a:bodyPr anchorCtr="0" anchor="t" bIns="34275" lIns="68575" spcFirstLastPara="1" rIns="68575" wrap="square" tIns="34275">
            <a:normAutofit/>
          </a:bodyPr>
          <a:lstStyle/>
          <a:p>
            <a:pPr indent="0" lvl="0" marL="0" rtl="0" algn="l">
              <a:spcBef>
                <a:spcPts val="500"/>
              </a:spcBef>
              <a:spcAft>
                <a:spcPts val="0"/>
              </a:spcAft>
              <a:buNone/>
            </a:pPr>
            <a:r>
              <a:rPr lang="en" sz="1400" u="sng">
                <a:solidFill>
                  <a:schemeClr val="hlink"/>
                </a:solidFill>
                <a:hlinkClick r:id="rId3"/>
              </a:rPr>
              <a:t>https://www.uniconvergetech.in/blog/wi-sun-networks</a:t>
            </a:r>
            <a:endParaRPr sz="1400"/>
          </a:p>
          <a:p>
            <a:pPr indent="0" lvl="0" marL="0" rtl="0" algn="l">
              <a:spcBef>
                <a:spcPts val="500"/>
              </a:spcBef>
              <a:spcAft>
                <a:spcPts val="0"/>
              </a:spcAft>
              <a:buNone/>
            </a:pPr>
            <a:r>
              <a:rPr lang="en" sz="1400" u="sng">
                <a:solidFill>
                  <a:schemeClr val="hlink"/>
                </a:solidFill>
                <a:hlinkClick r:id="rId4"/>
              </a:rPr>
              <a:t>https://opus-codec.org/</a:t>
            </a:r>
            <a:endParaRPr sz="1400"/>
          </a:p>
          <a:p>
            <a:pPr indent="0" lvl="0" marL="0" rtl="0" algn="l">
              <a:spcBef>
                <a:spcPts val="500"/>
              </a:spcBef>
              <a:spcAft>
                <a:spcPts val="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