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1808">
          <p15:clr>
            <a:srgbClr val="A4A3A4"/>
          </p15:clr>
        </p15:guide>
        <p15:guide id="3" pos="13824">
          <p15:clr>
            <a:srgbClr val="A4A3A4"/>
          </p15:clr>
        </p15:guide>
      </p15:sldGuideLst>
    </p:ext>
    <p:ext uri="GoogleSlidesCustomDataVersion2">
      <go:slidesCustomData xmlns:go="http://customooxmlschemas.google.com/" r:id="rId8" roundtripDataSignature="AMtx7mi/V0NSzT2WX4o33Q9WtO+s63Kn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D431F2-BE6A-4ACA-B54C-79C2FC7B2A14}">
  <a:tblStyle styleId="{B5D431F2-BE6A-4ACA-B54C-79C2FC7B2A1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1808"/>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 name="Google Shape;3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Image">
  <p:cSld name="Background Image">
    <p:spTree>
      <p:nvGrpSpPr>
        <p:cNvPr id="15" name="Shape 15"/>
        <p:cNvGrpSpPr/>
        <p:nvPr/>
      </p:nvGrpSpPr>
      <p:grpSpPr>
        <a:xfrm>
          <a:off x="0" y="0"/>
          <a:ext cx="0" cy="0"/>
          <a:chOff x="0" y="0"/>
          <a:chExt cx="0" cy="0"/>
        </a:xfrm>
      </p:grpSpPr>
      <p:cxnSp>
        <p:nvCxnSpPr>
          <p:cNvPr id="16" name="Google Shape;16;p3"/>
          <p:cNvCxnSpPr/>
          <p:nvPr/>
        </p:nvCxnSpPr>
        <p:spPr>
          <a:xfrm>
            <a:off x="11169060" y="6431836"/>
            <a:ext cx="0" cy="24886364"/>
          </a:xfrm>
          <a:prstGeom prst="straightConnector1">
            <a:avLst/>
          </a:prstGeom>
          <a:noFill/>
          <a:ln cap="flat" cmpd="tri" w="76200">
            <a:solidFill>
              <a:schemeClr val="dk1"/>
            </a:solidFill>
            <a:prstDash val="solid"/>
            <a:round/>
            <a:headEnd len="med" w="med" type="oval"/>
            <a:tailEnd len="med" w="med" type="oval"/>
          </a:ln>
        </p:spPr>
      </p:cxnSp>
      <p:cxnSp>
        <p:nvCxnSpPr>
          <p:cNvPr id="17" name="Google Shape;17;p3"/>
          <p:cNvCxnSpPr/>
          <p:nvPr/>
        </p:nvCxnSpPr>
        <p:spPr>
          <a:xfrm>
            <a:off x="11307763" y="7009765"/>
            <a:ext cx="914400" cy="914400"/>
          </a:xfrm>
          <a:prstGeom prst="straightConnector1">
            <a:avLst/>
          </a:prstGeom>
          <a:noFill/>
          <a:ln>
            <a:noFill/>
          </a:ln>
        </p:spPr>
      </p:cxnSp>
      <p:cxnSp>
        <p:nvCxnSpPr>
          <p:cNvPr id="18" name="Google Shape;18;p3"/>
          <p:cNvCxnSpPr/>
          <p:nvPr/>
        </p:nvCxnSpPr>
        <p:spPr>
          <a:xfrm>
            <a:off x="21945600" y="6431836"/>
            <a:ext cx="0" cy="24886364"/>
          </a:xfrm>
          <a:prstGeom prst="straightConnector1">
            <a:avLst/>
          </a:prstGeom>
          <a:noFill/>
          <a:ln cap="flat" cmpd="tri" w="76200">
            <a:solidFill>
              <a:schemeClr val="dk1"/>
            </a:solidFill>
            <a:prstDash val="solid"/>
            <a:round/>
            <a:headEnd len="med" w="med" type="oval"/>
            <a:tailEnd len="med" w="med" type="oval"/>
          </a:ln>
        </p:spPr>
      </p:cxnSp>
      <p:cxnSp>
        <p:nvCxnSpPr>
          <p:cNvPr id="19" name="Google Shape;19;p3"/>
          <p:cNvCxnSpPr/>
          <p:nvPr/>
        </p:nvCxnSpPr>
        <p:spPr>
          <a:xfrm>
            <a:off x="32577212" y="6431836"/>
            <a:ext cx="0" cy="24886364"/>
          </a:xfrm>
          <a:prstGeom prst="straightConnector1">
            <a:avLst/>
          </a:prstGeom>
          <a:noFill/>
          <a:ln cap="flat" cmpd="tri" w="88900">
            <a:solidFill>
              <a:schemeClr val="dk1"/>
            </a:solidFill>
            <a:prstDash val="solid"/>
            <a:round/>
            <a:headEnd len="med" w="med" type="oval"/>
            <a:tailEnd len="med" w="med" type="oval"/>
          </a:ln>
        </p:spPr>
      </p:cxnSp>
      <p:sp>
        <p:nvSpPr>
          <p:cNvPr id="20" name="Google Shape;20;p3"/>
          <p:cNvSpPr txBox="1"/>
          <p:nvPr>
            <p:ph idx="1" type="body"/>
          </p:nvPr>
        </p:nvSpPr>
        <p:spPr>
          <a:xfrm>
            <a:off x="914400" y="6644640"/>
            <a:ext cx="9798050" cy="1487424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1" name="Google Shape;21;p3"/>
          <p:cNvSpPr/>
          <p:nvPr>
            <p:ph idx="2" type="pic"/>
          </p:nvPr>
        </p:nvSpPr>
        <p:spPr>
          <a:xfrm>
            <a:off x="914400" y="21843852"/>
            <a:ext cx="9798050" cy="7452360"/>
          </a:xfrm>
          <a:prstGeom prst="rect">
            <a:avLst/>
          </a:prstGeom>
          <a:solidFill>
            <a:srgbClr val="D8D8D8"/>
          </a:solidFill>
          <a:ln>
            <a:noFill/>
          </a:ln>
        </p:spPr>
      </p:sp>
      <p:sp>
        <p:nvSpPr>
          <p:cNvPr id="22" name="Google Shape;22;p3"/>
          <p:cNvSpPr/>
          <p:nvPr>
            <p:ph idx="3" type="pic"/>
          </p:nvPr>
        </p:nvSpPr>
        <p:spPr>
          <a:xfrm>
            <a:off x="33046966" y="17186910"/>
            <a:ext cx="9798050" cy="7452360"/>
          </a:xfrm>
          <a:prstGeom prst="rect">
            <a:avLst/>
          </a:prstGeom>
          <a:solidFill>
            <a:srgbClr val="D8D8D8"/>
          </a:solidFill>
          <a:ln>
            <a:noFill/>
          </a:ln>
        </p:spPr>
      </p:sp>
      <p:sp>
        <p:nvSpPr>
          <p:cNvPr id="23" name="Google Shape;23;p3"/>
          <p:cNvSpPr txBox="1"/>
          <p:nvPr>
            <p:ph idx="4" type="body"/>
          </p:nvPr>
        </p:nvSpPr>
        <p:spPr>
          <a:xfrm>
            <a:off x="11674474" y="6644640"/>
            <a:ext cx="9798050" cy="2292096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4" name="Google Shape;24;p3"/>
          <p:cNvSpPr txBox="1"/>
          <p:nvPr>
            <p:ph idx="5" type="body"/>
          </p:nvPr>
        </p:nvSpPr>
        <p:spPr>
          <a:xfrm>
            <a:off x="22516542" y="6705600"/>
            <a:ext cx="9448423" cy="664464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5" name="Google Shape;25;p3"/>
          <p:cNvSpPr txBox="1"/>
          <p:nvPr>
            <p:ph idx="6" type="body"/>
          </p:nvPr>
        </p:nvSpPr>
        <p:spPr>
          <a:xfrm>
            <a:off x="33046966" y="6705600"/>
            <a:ext cx="9798050" cy="993648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6" name="Google Shape;26;p3"/>
          <p:cNvSpPr txBox="1"/>
          <p:nvPr>
            <p:ph idx="7" type="body"/>
          </p:nvPr>
        </p:nvSpPr>
        <p:spPr>
          <a:xfrm>
            <a:off x="33046966" y="25130235"/>
            <a:ext cx="9798050" cy="4252487"/>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7" name="Google Shape;27;p3"/>
          <p:cNvSpPr/>
          <p:nvPr>
            <p:ph idx="8" type="chart"/>
          </p:nvPr>
        </p:nvSpPr>
        <p:spPr>
          <a:xfrm>
            <a:off x="22513521" y="14194529"/>
            <a:ext cx="9454334" cy="694213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854"/>
              </a:spcBef>
              <a:spcAft>
                <a:spcPts val="0"/>
              </a:spcAft>
              <a:buClr>
                <a:schemeClr val="dk1"/>
              </a:buClr>
              <a:buSzPts val="2392"/>
              <a:buFont typeface="Arial"/>
              <a:buChar char="•"/>
              <a:defRPr b="0" i="0" sz="2392" u="none" cap="none" strike="noStrike">
                <a:solidFill>
                  <a:schemeClr val="dk1"/>
                </a:solidFill>
                <a:latin typeface="Arial"/>
                <a:ea typeface="Arial"/>
                <a:cs typeface="Arial"/>
                <a:sym typeface="Arial"/>
              </a:defRPr>
            </a:lvl1pPr>
            <a:lvl2pPr lvl="1" marR="0" rtl="0" algn="l">
              <a:lnSpc>
                <a:spcPct val="90000"/>
              </a:lnSpc>
              <a:spcBef>
                <a:spcPts val="427"/>
              </a:spcBef>
              <a:spcAft>
                <a:spcPts val="0"/>
              </a:spcAft>
              <a:buClr>
                <a:schemeClr val="dk1"/>
              </a:buClr>
              <a:buSzPts val="2050"/>
              <a:buFont typeface="Arial"/>
              <a:buChar char="•"/>
              <a:defRPr b="0" i="0" sz="2050" u="none" cap="none" strike="noStrike">
                <a:solidFill>
                  <a:schemeClr val="dk1"/>
                </a:solidFill>
                <a:latin typeface="Arial"/>
                <a:ea typeface="Arial"/>
                <a:cs typeface="Arial"/>
                <a:sym typeface="Arial"/>
              </a:defRPr>
            </a:lvl2pPr>
            <a:lvl3pPr lvl="2" marR="0" rtl="0" algn="l">
              <a:lnSpc>
                <a:spcPct val="90000"/>
              </a:lnSpc>
              <a:spcBef>
                <a:spcPts val="427"/>
              </a:spcBef>
              <a:spcAft>
                <a:spcPts val="0"/>
              </a:spcAft>
              <a:buClr>
                <a:schemeClr val="dk1"/>
              </a:buClr>
              <a:buSzPts val="1708"/>
              <a:buFont typeface="Arial"/>
              <a:buChar char="•"/>
              <a:defRPr b="0" i="0" sz="1708" u="none" cap="none" strike="noStrike">
                <a:solidFill>
                  <a:schemeClr val="dk1"/>
                </a:solidFill>
                <a:latin typeface="Arial"/>
                <a:ea typeface="Arial"/>
                <a:cs typeface="Arial"/>
                <a:sym typeface="Arial"/>
              </a:defRPr>
            </a:lvl3pPr>
            <a:lvl4pPr lvl="3"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4pPr>
            <a:lvl5pPr lvl="4"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5pPr>
            <a:lvl6pPr lvl="5"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lvl="6"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lvl="7"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lvl="8"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8" name="Google Shape;28;p3"/>
          <p:cNvSpPr txBox="1"/>
          <p:nvPr>
            <p:ph idx="9" type="body"/>
          </p:nvPr>
        </p:nvSpPr>
        <p:spPr>
          <a:xfrm>
            <a:off x="22513522" y="21847581"/>
            <a:ext cx="9417420" cy="759610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2020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p:nvPr/>
        </p:nvSpPr>
        <p:spPr>
          <a:xfrm>
            <a:off x="0" y="0"/>
            <a:ext cx="43891200" cy="5486400"/>
          </a:xfrm>
          <a:prstGeom prst="rect">
            <a:avLst/>
          </a:prstGeom>
          <a:solidFill>
            <a:srgbClr val="5D00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Arial"/>
              <a:ea typeface="Arial"/>
              <a:cs typeface="Arial"/>
              <a:sym typeface="Arial"/>
            </a:endParaRPr>
          </a:p>
        </p:txBody>
      </p:sp>
      <p:sp>
        <p:nvSpPr>
          <p:cNvPr id="7" name="Google Shape;7;p2"/>
          <p:cNvSpPr/>
          <p:nvPr/>
        </p:nvSpPr>
        <p:spPr>
          <a:xfrm>
            <a:off x="0" y="5257801"/>
            <a:ext cx="43891200" cy="265176"/>
          </a:xfrm>
          <a:prstGeom prst="rect">
            <a:avLst/>
          </a:prstGeom>
          <a:solidFill>
            <a:srgbClr val="8D506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Arial"/>
              <a:ea typeface="Arial"/>
              <a:cs typeface="Arial"/>
              <a:sym typeface="Arial"/>
            </a:endParaRPr>
          </a:p>
        </p:txBody>
      </p:sp>
      <p:sp>
        <p:nvSpPr>
          <p:cNvPr id="8" name="Google Shape;8;p2"/>
          <p:cNvSpPr/>
          <p:nvPr/>
        </p:nvSpPr>
        <p:spPr>
          <a:xfrm>
            <a:off x="0" y="31470600"/>
            <a:ext cx="43891200" cy="1447800"/>
          </a:xfrm>
          <a:prstGeom prst="rect">
            <a:avLst/>
          </a:prstGeom>
          <a:solidFill>
            <a:srgbClr val="5D00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Arial"/>
              <a:ea typeface="Arial"/>
              <a:cs typeface="Arial"/>
              <a:sym typeface="Arial"/>
            </a:endParaRPr>
          </a:p>
        </p:txBody>
      </p:sp>
      <p:cxnSp>
        <p:nvCxnSpPr>
          <p:cNvPr id="9" name="Google Shape;9;p2"/>
          <p:cNvCxnSpPr/>
          <p:nvPr/>
        </p:nvCxnSpPr>
        <p:spPr>
          <a:xfrm>
            <a:off x="31543262" y="30837464"/>
            <a:ext cx="0" cy="1588169"/>
          </a:xfrm>
          <a:prstGeom prst="straightConnector1">
            <a:avLst/>
          </a:prstGeom>
          <a:noFill/>
          <a:ln cap="flat" cmpd="sng" w="25400">
            <a:solidFill>
              <a:schemeClr val="lt1"/>
            </a:solidFill>
            <a:prstDash val="dash"/>
            <a:miter lim="800000"/>
            <a:headEnd len="sm" w="sm" type="none"/>
            <a:tailEnd len="sm" w="sm" type="none"/>
          </a:ln>
        </p:spPr>
      </p:cxnSp>
      <p:pic>
        <p:nvPicPr>
          <p:cNvPr id="10" name="Google Shape;10;p2"/>
          <p:cNvPicPr preferRelativeResize="0"/>
          <p:nvPr/>
        </p:nvPicPr>
        <p:blipFill rotWithShape="1">
          <a:blip r:embed="rId1">
            <a:alphaModFix/>
          </a:blip>
          <a:srcRect b="0" l="0" r="0" t="0"/>
          <a:stretch/>
        </p:blipFill>
        <p:spPr>
          <a:xfrm>
            <a:off x="1" y="0"/>
            <a:ext cx="37322118" cy="2503724"/>
          </a:xfrm>
          <a:prstGeom prst="rect">
            <a:avLst/>
          </a:prstGeom>
          <a:noFill/>
          <a:ln>
            <a:noFill/>
          </a:ln>
        </p:spPr>
      </p:pic>
      <p:pic>
        <p:nvPicPr>
          <p:cNvPr id="11" name="Google Shape;11;p2"/>
          <p:cNvPicPr preferRelativeResize="0"/>
          <p:nvPr/>
        </p:nvPicPr>
        <p:blipFill rotWithShape="1">
          <a:blip r:embed="rId1">
            <a:alphaModFix/>
          </a:blip>
          <a:srcRect b="0" l="65059" r="0" t="0"/>
          <a:stretch/>
        </p:blipFill>
        <p:spPr>
          <a:xfrm>
            <a:off x="1" y="31434024"/>
            <a:ext cx="43939859" cy="1471433"/>
          </a:xfrm>
          <a:prstGeom prst="rect">
            <a:avLst/>
          </a:prstGeom>
          <a:noFill/>
          <a:ln>
            <a:noFill/>
          </a:ln>
        </p:spPr>
      </p:pic>
      <p:pic>
        <p:nvPicPr>
          <p:cNvPr id="12" name="Google Shape;12;p2"/>
          <p:cNvPicPr preferRelativeResize="0"/>
          <p:nvPr/>
        </p:nvPicPr>
        <p:blipFill rotWithShape="1">
          <a:blip r:embed="rId1">
            <a:alphaModFix/>
          </a:blip>
          <a:srcRect b="0" l="65059" r="0" t="0"/>
          <a:stretch/>
        </p:blipFill>
        <p:spPr>
          <a:xfrm>
            <a:off x="1" y="2503724"/>
            <a:ext cx="43891201" cy="2982676"/>
          </a:xfrm>
          <a:prstGeom prst="rect">
            <a:avLst/>
          </a:prstGeom>
          <a:noFill/>
          <a:ln>
            <a:noFill/>
          </a:ln>
        </p:spPr>
      </p:pic>
      <p:pic>
        <p:nvPicPr>
          <p:cNvPr id="13" name="Google Shape;13;p2"/>
          <p:cNvPicPr preferRelativeResize="0"/>
          <p:nvPr/>
        </p:nvPicPr>
        <p:blipFill rotWithShape="1">
          <a:blip r:embed="rId1">
            <a:alphaModFix/>
          </a:blip>
          <a:srcRect b="0" l="65059" r="0" t="0"/>
          <a:stretch/>
        </p:blipFill>
        <p:spPr>
          <a:xfrm>
            <a:off x="36157168" y="0"/>
            <a:ext cx="7734033" cy="2982676"/>
          </a:xfrm>
          <a:prstGeom prst="rect">
            <a:avLst/>
          </a:prstGeom>
          <a:noFill/>
          <a:ln>
            <a:noFill/>
          </a:ln>
        </p:spPr>
      </p:pic>
      <p:pic>
        <p:nvPicPr>
          <p:cNvPr id="14" name="Google Shape;14;p2"/>
          <p:cNvPicPr preferRelativeResize="0"/>
          <p:nvPr/>
        </p:nvPicPr>
        <p:blipFill rotWithShape="1">
          <a:blip r:embed="rId1">
            <a:alphaModFix/>
          </a:blip>
          <a:srcRect b="0" l="65059" r="0" t="0"/>
          <a:stretch/>
        </p:blipFill>
        <p:spPr>
          <a:xfrm>
            <a:off x="1" y="31470601"/>
            <a:ext cx="43891201" cy="9550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sp>
        <p:nvSpPr>
          <p:cNvPr id="33" name="Google Shape;33;p1"/>
          <p:cNvSpPr/>
          <p:nvPr/>
        </p:nvSpPr>
        <p:spPr>
          <a:xfrm>
            <a:off x="12457500" y="1070950"/>
            <a:ext cx="18976200" cy="3423600"/>
          </a:xfrm>
          <a:prstGeom prst="rect">
            <a:avLst/>
          </a:prstGeom>
          <a:noFill/>
          <a:ln>
            <a:noFill/>
          </a:ln>
        </p:spPr>
        <p:txBody>
          <a:bodyPr anchorCtr="0" anchor="t" bIns="38950" lIns="77925" spcFirstLastPara="1" rIns="77925" wrap="square" tIns="38950">
            <a:spAutoFit/>
          </a:bodyPr>
          <a:lstStyle/>
          <a:p>
            <a:pPr indent="0" lvl="0" marL="0" marR="0" rtl="0" algn="ctr">
              <a:lnSpc>
                <a:spcPct val="100000"/>
              </a:lnSpc>
              <a:spcBef>
                <a:spcPts val="0"/>
              </a:spcBef>
              <a:spcAft>
                <a:spcPts val="0"/>
              </a:spcAft>
              <a:buClr>
                <a:srgbClr val="000000"/>
              </a:buClr>
              <a:buSzPts val="8800"/>
              <a:buFont typeface="Arial"/>
              <a:buNone/>
            </a:pPr>
            <a:r>
              <a:rPr b="1" i="0" lang="en-US" sz="8800" u="none" cap="none" strike="noStrike">
                <a:solidFill>
                  <a:schemeClr val="lt1"/>
                </a:solidFill>
                <a:latin typeface="Arial"/>
                <a:ea typeface="Arial"/>
                <a:cs typeface="Arial"/>
                <a:sym typeface="Arial"/>
              </a:rPr>
              <a:t>Mesh Walkie Talkies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13"/>
              </a:spcBef>
              <a:spcAft>
                <a:spcPts val="0"/>
              </a:spcAft>
              <a:buClr>
                <a:srgbClr val="000000"/>
              </a:buClr>
              <a:buSzPts val="5400"/>
              <a:buFont typeface="Arial"/>
              <a:buNone/>
            </a:pPr>
            <a:r>
              <a:rPr b="1" i="0" lang="en-US" sz="5400" u="none" cap="none" strike="noStrike">
                <a:solidFill>
                  <a:schemeClr val="lt1"/>
                </a:solidFill>
                <a:latin typeface="Arial"/>
                <a:ea typeface="Arial"/>
                <a:cs typeface="Arial"/>
                <a:sym typeface="Arial"/>
              </a:rPr>
              <a:t>Cole Cieslewicz, Jaiah Steele, Junsu Yeo</a:t>
            </a:r>
            <a:endParaRPr b="1" i="0" sz="5400" u="none" cap="none" strike="noStrike">
              <a:solidFill>
                <a:schemeClr val="lt1"/>
              </a:solidFill>
              <a:latin typeface="Arial"/>
              <a:ea typeface="Arial"/>
              <a:cs typeface="Arial"/>
              <a:sym typeface="Arial"/>
            </a:endParaRPr>
          </a:p>
          <a:p>
            <a:pPr indent="0" lvl="0" marL="0" marR="0" rtl="0" algn="ctr">
              <a:lnSpc>
                <a:spcPct val="100000"/>
              </a:lnSpc>
              <a:spcBef>
                <a:spcPts val="2051"/>
              </a:spcBef>
              <a:spcAft>
                <a:spcPts val="0"/>
              </a:spcAft>
              <a:buClr>
                <a:srgbClr val="000000"/>
              </a:buClr>
              <a:buSzPts val="5400"/>
              <a:buFont typeface="Arial"/>
              <a:buNone/>
            </a:pPr>
            <a:r>
              <a:rPr b="1" i="0" lang="en-US" sz="5400" u="none" cap="none" strike="noStrike">
                <a:solidFill>
                  <a:schemeClr val="lt1"/>
                </a:solidFill>
                <a:latin typeface="Arial"/>
                <a:ea typeface="Arial"/>
                <a:cs typeface="Arial"/>
                <a:sym typeface="Arial"/>
              </a:rPr>
              <a:t>Sponsor: Guiseppe Rizzi</a:t>
            </a:r>
            <a:endParaRPr b="0" i="0" sz="1400" u="none" cap="none" strike="noStrike">
              <a:solidFill>
                <a:srgbClr val="000000"/>
              </a:solidFill>
              <a:latin typeface="Arial"/>
              <a:ea typeface="Arial"/>
              <a:cs typeface="Arial"/>
              <a:sym typeface="Arial"/>
            </a:endParaRPr>
          </a:p>
        </p:txBody>
      </p:sp>
      <p:sp>
        <p:nvSpPr>
          <p:cNvPr id="34" name="Google Shape;34;p1"/>
          <p:cNvSpPr txBox="1"/>
          <p:nvPr/>
        </p:nvSpPr>
        <p:spPr>
          <a:xfrm>
            <a:off x="914400" y="7003709"/>
            <a:ext cx="9829801" cy="4735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77"/>
              <a:buFont typeface="Arial"/>
              <a:buNone/>
            </a:pPr>
            <a:r>
              <a:t/>
            </a:r>
            <a:endParaRPr b="0" i="0" sz="2477" u="none" cap="none" strike="noStrike">
              <a:solidFill>
                <a:schemeClr val="dk1"/>
              </a:solidFill>
              <a:latin typeface="Arial"/>
              <a:ea typeface="Arial"/>
              <a:cs typeface="Arial"/>
              <a:sym typeface="Arial"/>
            </a:endParaRPr>
          </a:p>
        </p:txBody>
      </p:sp>
      <p:cxnSp>
        <p:nvCxnSpPr>
          <p:cNvPr id="35" name="Google Shape;35;p1"/>
          <p:cNvCxnSpPr/>
          <p:nvPr/>
        </p:nvCxnSpPr>
        <p:spPr>
          <a:xfrm>
            <a:off x="937264" y="11502232"/>
            <a:ext cx="9784200" cy="0"/>
          </a:xfrm>
          <a:prstGeom prst="straightConnector1">
            <a:avLst/>
          </a:prstGeom>
          <a:noFill/>
          <a:ln cap="flat" cmpd="sng" w="25400">
            <a:solidFill>
              <a:schemeClr val="dk1"/>
            </a:solidFill>
            <a:prstDash val="dash"/>
            <a:round/>
            <a:headEnd len="sm" w="sm" type="none"/>
            <a:tailEnd len="sm" w="sm" type="none"/>
          </a:ln>
        </p:spPr>
      </p:cxnSp>
      <p:cxnSp>
        <p:nvCxnSpPr>
          <p:cNvPr id="36" name="Google Shape;36;p1"/>
          <p:cNvCxnSpPr/>
          <p:nvPr/>
        </p:nvCxnSpPr>
        <p:spPr>
          <a:xfrm>
            <a:off x="22442212" y="13808417"/>
            <a:ext cx="9673301" cy="0"/>
          </a:xfrm>
          <a:prstGeom prst="straightConnector1">
            <a:avLst/>
          </a:prstGeom>
          <a:noFill/>
          <a:ln cap="flat" cmpd="sng" w="25400">
            <a:solidFill>
              <a:schemeClr val="dk1"/>
            </a:solidFill>
            <a:prstDash val="dash"/>
            <a:round/>
            <a:headEnd len="sm" w="sm" type="none"/>
            <a:tailEnd len="sm" w="sm" type="none"/>
          </a:ln>
        </p:spPr>
      </p:cxnSp>
      <p:sp>
        <p:nvSpPr>
          <p:cNvPr id="37" name="Google Shape;37;p1"/>
          <p:cNvSpPr txBox="1"/>
          <p:nvPr/>
        </p:nvSpPr>
        <p:spPr>
          <a:xfrm>
            <a:off x="22427674" y="25196720"/>
            <a:ext cx="9388200" cy="307800"/>
          </a:xfrm>
          <a:prstGeom prst="rect">
            <a:avLst/>
          </a:prstGeom>
          <a:solidFill>
            <a:schemeClr val="lt1">
              <a:alpha val="41568"/>
            </a:schemeClr>
          </a:solidFill>
          <a:ln>
            <a:noFill/>
          </a:ln>
        </p:spPr>
        <p:txBody>
          <a:bodyPr anchorCtr="0" anchor="t" bIns="45700" lIns="91425" spcFirstLastPara="1" rIns="91425" wrap="square" tIns="45700">
            <a:spAutoFit/>
          </a:bodyPr>
          <a:lstStyle/>
          <a:p>
            <a:pPr indent="0" lvl="0" marL="0" marR="0" rtl="0" algn="l">
              <a:lnSpc>
                <a:spcPct val="164285"/>
              </a:lnSpc>
              <a:spcBef>
                <a:spcPts val="0"/>
              </a:spcBef>
              <a:spcAft>
                <a:spcPts val="0"/>
              </a:spcAft>
              <a:buClr>
                <a:srgbClr val="000000"/>
              </a:buClr>
              <a:buSzPts val="2800"/>
              <a:buFont typeface="Arial"/>
              <a:buNone/>
            </a:pPr>
            <a:r>
              <a:t/>
            </a:r>
            <a:endParaRPr b="0" i="0" sz="1400" u="none" cap="none" strike="noStrike">
              <a:solidFill>
                <a:srgbClr val="000000"/>
              </a:solidFill>
              <a:latin typeface="Arial"/>
              <a:ea typeface="Arial"/>
              <a:cs typeface="Arial"/>
              <a:sym typeface="Arial"/>
            </a:endParaRPr>
          </a:p>
        </p:txBody>
      </p:sp>
      <p:cxnSp>
        <p:nvCxnSpPr>
          <p:cNvPr id="38" name="Google Shape;38;p1"/>
          <p:cNvCxnSpPr/>
          <p:nvPr/>
        </p:nvCxnSpPr>
        <p:spPr>
          <a:xfrm>
            <a:off x="33507792" y="29428300"/>
            <a:ext cx="9482400" cy="0"/>
          </a:xfrm>
          <a:prstGeom prst="straightConnector1">
            <a:avLst/>
          </a:prstGeom>
          <a:noFill/>
          <a:ln cap="flat" cmpd="sng" w="25400">
            <a:solidFill>
              <a:schemeClr val="dk1"/>
            </a:solidFill>
            <a:prstDash val="dash"/>
            <a:round/>
            <a:headEnd len="sm" w="sm" type="none"/>
            <a:tailEnd len="sm" w="sm" type="none"/>
          </a:ln>
        </p:spPr>
      </p:cxnSp>
      <p:sp>
        <p:nvSpPr>
          <p:cNvPr id="39" name="Google Shape;39;p1"/>
          <p:cNvSpPr txBox="1"/>
          <p:nvPr/>
        </p:nvSpPr>
        <p:spPr>
          <a:xfrm>
            <a:off x="11053681" y="21836475"/>
            <a:ext cx="9829800" cy="523200"/>
          </a:xfrm>
          <a:prstGeom prst="rect">
            <a:avLst/>
          </a:prstGeom>
          <a:solidFill>
            <a:schemeClr val="lt1">
              <a:alpha val="41568"/>
            </a:schemeClr>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1" lang="en-US" sz="2800" u="none" cap="none" strike="noStrike">
                <a:solidFill>
                  <a:schemeClr val="dk1"/>
                </a:solidFill>
              </a:rPr>
              <a:t>Figure 1. </a:t>
            </a:r>
            <a:r>
              <a:rPr b="1" i="1" lang="en-US" sz="2800">
                <a:solidFill>
                  <a:schemeClr val="dk1"/>
                </a:solidFill>
              </a:rPr>
              <a:t>Exterior/Interior Design of the Walkie Talkie</a:t>
            </a:r>
            <a:r>
              <a:rPr b="0" i="1" lang="en-US" sz="2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0" name="Google Shape;40;p1"/>
          <p:cNvSpPr txBox="1"/>
          <p:nvPr/>
        </p:nvSpPr>
        <p:spPr>
          <a:xfrm>
            <a:off x="1107688" y="6932975"/>
            <a:ext cx="9667800" cy="4402200"/>
          </a:xfrm>
          <a:prstGeom prst="rect">
            <a:avLst/>
          </a:prstGeom>
          <a:solidFill>
            <a:schemeClr val="lt1">
              <a:alpha val="62352"/>
            </a:schemeClr>
          </a:solidFill>
          <a:ln>
            <a:noFill/>
          </a:ln>
        </p:spPr>
        <p:txBody>
          <a:bodyPr anchorCtr="0" anchor="t" bIns="45700" lIns="91425" spcFirstLastPara="1" rIns="91425" wrap="square" tIns="45700">
            <a:spAutoFit/>
          </a:bodyPr>
          <a:lstStyle/>
          <a:p>
            <a:pPr indent="0" lvl="0" marL="0" marR="0" rtl="0" algn="l">
              <a:lnSpc>
                <a:spcPct val="95833"/>
              </a:lnSpc>
              <a:spcBef>
                <a:spcPts val="0"/>
              </a:spcBef>
              <a:spcAft>
                <a:spcPts val="0"/>
              </a:spcAft>
              <a:buClr>
                <a:srgbClr val="000000"/>
              </a:buClr>
              <a:buSzPts val="4800"/>
              <a:buFont typeface="Arial"/>
              <a:buNone/>
            </a:pPr>
            <a:r>
              <a:rPr b="1" i="0" lang="en-US" sz="4800" u="sng" cap="none" strike="noStrike">
                <a:solidFill>
                  <a:srgbClr val="5D0025"/>
                </a:solidFill>
                <a:latin typeface="Arial"/>
                <a:ea typeface="Arial"/>
                <a:cs typeface="Arial"/>
                <a:sym typeface="Arial"/>
              </a:rPr>
              <a:t>Problem Definition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3800"/>
              <a:buFont typeface="Arial"/>
              <a:buNone/>
            </a:pPr>
            <a:r>
              <a:rPr lang="en-US" sz="3200">
                <a:solidFill>
                  <a:schemeClr val="dk1"/>
                </a:solidFill>
              </a:rPr>
              <a:t>Traditional walkie-talkies, while reliable, are limited by their direct line-of-sight range and lack in networking capabilities. Our solution enhances this functionality by integrating mesh networking technology, enabling each device to function as both a receiver and transmitter, significantly extending the communication range and </a:t>
            </a:r>
            <a:r>
              <a:rPr lang="en-US" sz="3200">
                <a:solidFill>
                  <a:schemeClr val="dk1"/>
                </a:solidFill>
              </a:rPr>
              <a:t>network</a:t>
            </a:r>
            <a:r>
              <a:rPr lang="en-US" sz="3200">
                <a:solidFill>
                  <a:schemeClr val="dk1"/>
                </a:solidFill>
              </a:rPr>
              <a:t> reliability. </a:t>
            </a:r>
            <a:endParaRPr b="0" i="0" sz="3200" u="none" cap="none" strike="noStrike">
              <a:solidFill>
                <a:srgbClr val="000000"/>
              </a:solidFill>
              <a:latin typeface="Arial"/>
              <a:ea typeface="Arial"/>
              <a:cs typeface="Arial"/>
              <a:sym typeface="Arial"/>
            </a:endParaRPr>
          </a:p>
        </p:txBody>
      </p:sp>
      <p:sp>
        <p:nvSpPr>
          <p:cNvPr id="41" name="Google Shape;41;p1"/>
          <p:cNvSpPr txBox="1"/>
          <p:nvPr/>
        </p:nvSpPr>
        <p:spPr>
          <a:xfrm>
            <a:off x="1165789" y="11669278"/>
            <a:ext cx="9256800" cy="19779300"/>
          </a:xfrm>
          <a:prstGeom prst="rect">
            <a:avLst/>
          </a:prstGeom>
          <a:solidFill>
            <a:schemeClr val="lt1">
              <a:alpha val="62352"/>
            </a:schemeClr>
          </a:solidFill>
          <a:ln>
            <a:noFill/>
          </a:ln>
        </p:spPr>
        <p:txBody>
          <a:bodyPr anchorCtr="0" anchor="t" bIns="45700" lIns="91425" spcFirstLastPara="1" rIns="91425" wrap="square" tIns="45700">
            <a:spAutoFit/>
          </a:bodyPr>
          <a:lstStyle/>
          <a:p>
            <a:pPr indent="0" lvl="0" marL="0" marR="0" rtl="0" algn="l">
              <a:lnSpc>
                <a:spcPct val="95833"/>
              </a:lnSpc>
              <a:spcBef>
                <a:spcPts val="0"/>
              </a:spcBef>
              <a:spcAft>
                <a:spcPts val="0"/>
              </a:spcAft>
              <a:buClr>
                <a:srgbClr val="000000"/>
              </a:buClr>
              <a:buSzPts val="4800"/>
              <a:buFont typeface="Arial"/>
              <a:buNone/>
            </a:pPr>
            <a:r>
              <a:rPr b="1" i="0" lang="en-US" sz="4800" u="sng" cap="none" strike="noStrike">
                <a:solidFill>
                  <a:srgbClr val="5D0025"/>
                </a:solidFill>
                <a:latin typeface="Arial"/>
                <a:ea typeface="Arial"/>
                <a:cs typeface="Arial"/>
                <a:sym typeface="Arial"/>
              </a:rPr>
              <a:t>Methodology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800"/>
              <a:buFont typeface="Arial"/>
              <a:buNone/>
            </a:pPr>
            <a:r>
              <a:rPr lang="en-US" sz="3200">
                <a:solidFill>
                  <a:schemeClr val="dk1"/>
                </a:solidFill>
              </a:rPr>
              <a:t>The project is divided into three subsystems: power, mesh networking, and the audio/user interface system.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2200"/>
              </a:spcBef>
              <a:spcAft>
                <a:spcPts val="0"/>
              </a:spcAft>
              <a:buClr>
                <a:srgbClr val="000000"/>
              </a:buClr>
              <a:buSzPts val="2800"/>
              <a:buFont typeface="Arial"/>
              <a:buNone/>
            </a:pPr>
            <a:r>
              <a:rPr b="1" lang="en-US" sz="3200">
                <a:solidFill>
                  <a:schemeClr val="dk2"/>
                </a:solidFill>
              </a:rPr>
              <a:t>Power System</a:t>
            </a:r>
            <a:endParaRPr b="0" i="0" sz="3200" u="none" cap="none" strike="noStrike">
              <a:solidFill>
                <a:schemeClr val="dk1"/>
              </a:solidFill>
              <a:latin typeface="Arial"/>
              <a:ea typeface="Arial"/>
              <a:cs typeface="Arial"/>
              <a:sym typeface="Arial"/>
            </a:endParaRPr>
          </a:p>
          <a:p>
            <a:pPr indent="-431800" lvl="1" marL="914400" marR="0" rtl="0" algn="l">
              <a:lnSpc>
                <a:spcPct val="100000"/>
              </a:lnSpc>
              <a:spcBef>
                <a:spcPts val="0"/>
              </a:spcBef>
              <a:spcAft>
                <a:spcPts val="0"/>
              </a:spcAft>
              <a:buClr>
                <a:schemeClr val="dk1"/>
              </a:buClr>
              <a:buSzPts val="3200"/>
              <a:buChar char="•"/>
            </a:pPr>
            <a:r>
              <a:rPr lang="en-US" sz="3200">
                <a:solidFill>
                  <a:schemeClr val="dk1"/>
                </a:solidFill>
              </a:rPr>
              <a:t>Designed a low dropout regulator (LDO) to drop 3.7V to 3.3V.</a:t>
            </a:r>
            <a:endParaRPr sz="3200">
              <a:solidFill>
                <a:schemeClr val="dk1"/>
              </a:solidFill>
            </a:endParaRPr>
          </a:p>
          <a:p>
            <a:pPr indent="-431800" lvl="1" marL="914400" marR="0" rtl="0" algn="l">
              <a:lnSpc>
                <a:spcPct val="100000"/>
              </a:lnSpc>
              <a:spcBef>
                <a:spcPts val="0"/>
              </a:spcBef>
              <a:spcAft>
                <a:spcPts val="0"/>
              </a:spcAft>
              <a:buClr>
                <a:schemeClr val="dk1"/>
              </a:buClr>
              <a:buSzPts val="3200"/>
              <a:buChar char="•"/>
            </a:pPr>
            <a:r>
              <a:rPr lang="en-US" sz="3200">
                <a:solidFill>
                  <a:schemeClr val="dk1"/>
                </a:solidFill>
              </a:rPr>
              <a:t>Designed a boost converter to step up 3.7V to 6.0V fed into a LDO to drop to 5.0V. </a:t>
            </a:r>
            <a:endParaRPr sz="3200">
              <a:solidFill>
                <a:schemeClr val="dk1"/>
              </a:solidFill>
            </a:endParaRPr>
          </a:p>
          <a:p>
            <a:pPr indent="-438150" lvl="1" marL="914400" marR="0" rtl="0" algn="l">
              <a:lnSpc>
                <a:spcPct val="100000"/>
              </a:lnSpc>
              <a:spcBef>
                <a:spcPts val="0"/>
              </a:spcBef>
              <a:spcAft>
                <a:spcPts val="0"/>
              </a:spcAft>
              <a:buClr>
                <a:schemeClr val="dk1"/>
              </a:buClr>
              <a:buSzPts val="3200"/>
              <a:buChar char="•"/>
            </a:pPr>
            <a:r>
              <a:rPr lang="en-US" sz="3200">
                <a:solidFill>
                  <a:schemeClr val="dk1"/>
                </a:solidFill>
              </a:rPr>
              <a:t>Designed a battery charger &amp; battery protection circuit to charge at 1250mA and protect the battery at 3.0-4.2V. </a:t>
            </a:r>
            <a:endParaRPr sz="3200">
              <a:solidFill>
                <a:schemeClr val="dk1"/>
              </a:solidFill>
            </a:endParaRPr>
          </a:p>
          <a:p>
            <a:pPr indent="0" lvl="0" marL="0" marR="0" rtl="0" algn="l">
              <a:lnSpc>
                <a:spcPct val="100000"/>
              </a:lnSpc>
              <a:spcBef>
                <a:spcPts val="2200"/>
              </a:spcBef>
              <a:spcAft>
                <a:spcPts val="0"/>
              </a:spcAft>
              <a:buClr>
                <a:srgbClr val="000000"/>
              </a:buClr>
              <a:buSzPts val="2800"/>
              <a:buFont typeface="Arial"/>
              <a:buNone/>
            </a:pPr>
            <a:r>
              <a:rPr b="1" lang="en-US" sz="3200">
                <a:solidFill>
                  <a:schemeClr val="dk2"/>
                </a:solidFill>
              </a:rPr>
              <a:t>Mesh Networking</a:t>
            </a:r>
            <a:endParaRPr sz="3200">
              <a:solidFill>
                <a:schemeClr val="dk1"/>
              </a:solidFill>
            </a:endParaRPr>
          </a:p>
          <a:p>
            <a:pPr indent="-431800" lvl="1" marL="914400" rtl="0" algn="l">
              <a:spcBef>
                <a:spcPts val="800"/>
              </a:spcBef>
              <a:spcAft>
                <a:spcPts val="0"/>
              </a:spcAft>
              <a:buClr>
                <a:schemeClr val="dk1"/>
              </a:buClr>
              <a:buSzPts val="3200"/>
              <a:buChar char="•"/>
            </a:pPr>
            <a:r>
              <a:rPr lang="en-US" sz="3200">
                <a:solidFill>
                  <a:schemeClr val="dk1"/>
                </a:solidFill>
              </a:rPr>
              <a:t>Using base programs in Code Composer Studio software, the mesh network was created to enable small packets of data to be transmitted to and from devices.</a:t>
            </a:r>
            <a:endParaRPr sz="3200">
              <a:solidFill>
                <a:schemeClr val="dk1"/>
              </a:solidFill>
            </a:endParaRPr>
          </a:p>
          <a:p>
            <a:pPr indent="-431800" lvl="1" marL="914400" rtl="0" algn="l">
              <a:spcBef>
                <a:spcPts val="0"/>
              </a:spcBef>
              <a:spcAft>
                <a:spcPts val="0"/>
              </a:spcAft>
              <a:buClr>
                <a:schemeClr val="dk1"/>
              </a:buClr>
              <a:buSzPts val="3200"/>
              <a:buChar char="•"/>
            </a:pPr>
            <a:r>
              <a:rPr lang="en-US" sz="3200">
                <a:solidFill>
                  <a:schemeClr val="dk1"/>
                </a:solidFill>
              </a:rPr>
              <a:t>Utilized TI’s proprietary communication protocol operating at 915 MHz for high quality data transfer.</a:t>
            </a:r>
            <a:endParaRPr sz="3200">
              <a:solidFill>
                <a:schemeClr val="dk1"/>
              </a:solidFill>
            </a:endParaRPr>
          </a:p>
          <a:p>
            <a:pPr indent="0" lvl="0" marL="0" rtl="0" algn="l">
              <a:lnSpc>
                <a:spcPct val="100000"/>
              </a:lnSpc>
              <a:spcBef>
                <a:spcPts val="2200"/>
              </a:spcBef>
              <a:spcAft>
                <a:spcPts val="0"/>
              </a:spcAft>
              <a:buNone/>
            </a:pPr>
            <a:r>
              <a:rPr b="1" lang="en-US" sz="3200">
                <a:solidFill>
                  <a:schemeClr val="dk2"/>
                </a:solidFill>
              </a:rPr>
              <a:t>Audio/User Interface</a:t>
            </a:r>
            <a:endParaRPr b="1" sz="3200">
              <a:solidFill>
                <a:schemeClr val="dk2"/>
              </a:solidFill>
            </a:endParaRPr>
          </a:p>
          <a:p>
            <a:pPr indent="-431800" lvl="1" marL="914400" rtl="0" algn="l">
              <a:spcBef>
                <a:spcPts val="800"/>
              </a:spcBef>
              <a:spcAft>
                <a:spcPts val="0"/>
              </a:spcAft>
              <a:buClr>
                <a:schemeClr val="dk1"/>
              </a:buClr>
              <a:buSzPts val="3200"/>
              <a:buChar char="•"/>
            </a:pPr>
            <a:r>
              <a:rPr lang="en-US" sz="3200">
                <a:solidFill>
                  <a:schemeClr val="dk1"/>
                </a:solidFill>
              </a:rPr>
              <a:t>Utilized the TLV320AIC3254 audio codec for high-quality mono audio sampling via I2S at 8 kHz.</a:t>
            </a:r>
            <a:endParaRPr sz="3200">
              <a:solidFill>
                <a:schemeClr val="dk1"/>
              </a:solidFill>
            </a:endParaRPr>
          </a:p>
          <a:p>
            <a:pPr indent="-431800" lvl="1" marL="914400" rtl="0" algn="l">
              <a:spcBef>
                <a:spcPts val="0"/>
              </a:spcBef>
              <a:spcAft>
                <a:spcPts val="0"/>
              </a:spcAft>
              <a:buClr>
                <a:schemeClr val="dk1"/>
              </a:buClr>
              <a:buSzPts val="3200"/>
              <a:buChar char="•"/>
            </a:pPr>
            <a:r>
              <a:rPr lang="en-US" sz="3200">
                <a:solidFill>
                  <a:schemeClr val="dk1"/>
                </a:solidFill>
              </a:rPr>
              <a:t>Implemented 16-bit to 8-bit audio compression using ADPCM for efficient RF transmission.</a:t>
            </a:r>
            <a:endParaRPr sz="3200">
              <a:solidFill>
                <a:schemeClr val="dk1"/>
              </a:solidFill>
            </a:endParaRPr>
          </a:p>
          <a:p>
            <a:pPr indent="-431800" lvl="1" marL="914400" rtl="0" algn="l">
              <a:spcBef>
                <a:spcPts val="0"/>
              </a:spcBef>
              <a:spcAft>
                <a:spcPts val="0"/>
              </a:spcAft>
              <a:buClr>
                <a:schemeClr val="dk1"/>
              </a:buClr>
              <a:buSzPts val="3200"/>
              <a:buChar char="•"/>
            </a:pPr>
            <a:r>
              <a:rPr lang="en-US" sz="3200">
                <a:solidFill>
                  <a:schemeClr val="dk1"/>
                </a:solidFill>
              </a:rPr>
              <a:t>Integrated real-time I2S audio input (microphone) and output (speaker), with audio routed through an I2C-controlled codec.</a:t>
            </a:r>
            <a:endParaRPr sz="3200">
              <a:solidFill>
                <a:schemeClr val="dk1"/>
              </a:solidFill>
            </a:endParaRPr>
          </a:p>
          <a:p>
            <a:pPr indent="-431800" lvl="1" marL="914400" rtl="0" algn="l">
              <a:spcBef>
                <a:spcPts val="0"/>
              </a:spcBef>
              <a:spcAft>
                <a:spcPts val="0"/>
              </a:spcAft>
              <a:buClr>
                <a:schemeClr val="dk1"/>
              </a:buClr>
              <a:buSzPts val="3200"/>
              <a:buChar char="•"/>
            </a:pPr>
            <a:r>
              <a:rPr lang="en-US" sz="3200">
                <a:solidFill>
                  <a:schemeClr val="dk1"/>
                </a:solidFill>
              </a:rPr>
              <a:t>Implemented a push-to-talk (PTT) system using GPIO interrupts—when the button is pressed, audio capture and transmission begin; when released, the device returns to receive mode.</a:t>
            </a:r>
            <a:endParaRPr sz="3200">
              <a:solidFill>
                <a:schemeClr val="dk1"/>
              </a:solidFill>
            </a:endParaRPr>
          </a:p>
          <a:p>
            <a:pPr indent="0" lvl="0" marL="0" rtl="0" algn="l">
              <a:lnSpc>
                <a:spcPct val="100000"/>
              </a:lnSpc>
              <a:spcBef>
                <a:spcPts val="800"/>
              </a:spcBef>
              <a:spcAft>
                <a:spcPts val="0"/>
              </a:spcAft>
              <a:buNone/>
            </a:pPr>
            <a:r>
              <a:t/>
            </a:r>
            <a:endParaRPr sz="2800">
              <a:solidFill>
                <a:schemeClr val="dk1"/>
              </a:solidFill>
            </a:endParaRPr>
          </a:p>
        </p:txBody>
      </p:sp>
      <p:sp>
        <p:nvSpPr>
          <p:cNvPr id="42" name="Google Shape;42;p1"/>
          <p:cNvSpPr txBox="1"/>
          <p:nvPr/>
        </p:nvSpPr>
        <p:spPr>
          <a:xfrm>
            <a:off x="11816734" y="6932976"/>
            <a:ext cx="9499800" cy="8034900"/>
          </a:xfrm>
          <a:prstGeom prst="rect">
            <a:avLst/>
          </a:prstGeom>
          <a:solidFill>
            <a:schemeClr val="lt1">
              <a:alpha val="62352"/>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sng" cap="none" strike="noStrike">
                <a:solidFill>
                  <a:srgbClr val="5D0025"/>
                </a:solidFill>
                <a:latin typeface="Arial"/>
                <a:ea typeface="Arial"/>
                <a:cs typeface="Arial"/>
                <a:sym typeface="Arial"/>
              </a:rPr>
              <a:t>Engineering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800"/>
              <a:buFont typeface="Arial"/>
              <a:buNone/>
            </a:pPr>
            <a:r>
              <a:rPr lang="en-US" sz="3200">
                <a:solidFill>
                  <a:schemeClr val="dk1"/>
                </a:solidFill>
              </a:rPr>
              <a:t>Below are the primary steps used in configuring the devices to behave appropriately</a:t>
            </a:r>
            <a:r>
              <a:rPr b="0" i="0" lang="en-US" sz="3200" u="none" cap="none" strike="noStrike">
                <a:solidFill>
                  <a:schemeClr val="dk1"/>
                </a:solidFill>
                <a:latin typeface="Arial"/>
                <a:ea typeface="Arial"/>
                <a:cs typeface="Arial"/>
                <a:sym typeface="Arial"/>
              </a:rPr>
              <a:t>:</a:t>
            </a:r>
            <a:endParaRPr sz="3200">
              <a:solidFill>
                <a:schemeClr val="dk1"/>
              </a:solidFill>
            </a:endParaRPr>
          </a:p>
          <a:p>
            <a:pPr indent="-431800" lvl="0" marL="457200" rtl="0" algn="l">
              <a:spcBef>
                <a:spcPts val="1200"/>
              </a:spcBef>
              <a:spcAft>
                <a:spcPts val="0"/>
              </a:spcAft>
              <a:buClr>
                <a:schemeClr val="dk1"/>
              </a:buClr>
              <a:buSzPts val="3200"/>
              <a:buAutoNum type="alphaUcPeriod"/>
            </a:pPr>
            <a:r>
              <a:rPr lang="en-US" sz="3200">
                <a:solidFill>
                  <a:schemeClr val="dk1"/>
                </a:solidFill>
              </a:rPr>
              <a:t>Switched from Wi-SUN to TI Proprietary Mesh for lower latency.</a:t>
            </a:r>
            <a:endParaRPr sz="3200">
              <a:solidFill>
                <a:schemeClr val="dk1"/>
              </a:solidFill>
            </a:endParaRPr>
          </a:p>
          <a:p>
            <a:pPr indent="-431800" lvl="0" marL="457200" rtl="0" algn="l">
              <a:spcBef>
                <a:spcPts val="0"/>
              </a:spcBef>
              <a:spcAft>
                <a:spcPts val="0"/>
              </a:spcAft>
              <a:buClr>
                <a:schemeClr val="dk1"/>
              </a:buClr>
              <a:buSzPts val="3200"/>
              <a:buAutoNum type="alphaUcPeriod"/>
            </a:pPr>
            <a:r>
              <a:rPr lang="en-US" sz="3200">
                <a:solidFill>
                  <a:schemeClr val="dk1"/>
                </a:solidFill>
              </a:rPr>
              <a:t>Enabled bidirectional RF communication with PTT and UART support.</a:t>
            </a:r>
            <a:endParaRPr sz="3200">
              <a:solidFill>
                <a:schemeClr val="dk1"/>
              </a:solidFill>
            </a:endParaRPr>
          </a:p>
          <a:p>
            <a:pPr indent="-431800" lvl="0" marL="457200" rtl="0" algn="l">
              <a:spcBef>
                <a:spcPts val="0"/>
              </a:spcBef>
              <a:spcAft>
                <a:spcPts val="0"/>
              </a:spcAft>
              <a:buClr>
                <a:schemeClr val="dk1"/>
              </a:buClr>
              <a:buSzPts val="3200"/>
              <a:buAutoNum type="alphaUcPeriod"/>
            </a:pPr>
            <a:r>
              <a:rPr lang="en-US" sz="3200">
                <a:solidFill>
                  <a:schemeClr val="dk1"/>
                </a:solidFill>
              </a:rPr>
              <a:t>Used GPIO interrupts for push-to-talk; LCD updates status in real-time.</a:t>
            </a:r>
            <a:endParaRPr sz="3200">
              <a:solidFill>
                <a:schemeClr val="dk1"/>
              </a:solidFill>
            </a:endParaRPr>
          </a:p>
          <a:p>
            <a:pPr indent="-431800" lvl="0" marL="457200" rtl="0" algn="l">
              <a:spcBef>
                <a:spcPts val="0"/>
              </a:spcBef>
              <a:spcAft>
                <a:spcPts val="0"/>
              </a:spcAft>
              <a:buClr>
                <a:schemeClr val="dk1"/>
              </a:buClr>
              <a:buSzPts val="3200"/>
              <a:buAutoNum type="alphaUcPeriod"/>
            </a:pPr>
            <a:r>
              <a:rPr lang="en-US" sz="3200">
                <a:solidFill>
                  <a:schemeClr val="dk1"/>
                </a:solidFill>
              </a:rPr>
              <a:t>Compressed 16-bit I2S audio to 8-bit PCM at 8kHz using various codecs.</a:t>
            </a:r>
            <a:endParaRPr sz="3200">
              <a:solidFill>
                <a:schemeClr val="dk1"/>
              </a:solidFill>
            </a:endParaRPr>
          </a:p>
          <a:p>
            <a:pPr indent="-431800" lvl="0" marL="457200" rtl="0" algn="l">
              <a:spcBef>
                <a:spcPts val="0"/>
              </a:spcBef>
              <a:spcAft>
                <a:spcPts val="0"/>
              </a:spcAft>
              <a:buClr>
                <a:schemeClr val="dk1"/>
              </a:buClr>
              <a:buSzPts val="3200"/>
              <a:buAutoNum type="alphaUcPeriod"/>
            </a:pPr>
            <a:r>
              <a:rPr lang="en-US" sz="3200">
                <a:solidFill>
                  <a:schemeClr val="dk1"/>
                </a:solidFill>
              </a:rPr>
              <a:t>Implemented echo-based packet relaying with Walkie-ID for pseudo full-duplex.</a:t>
            </a:r>
            <a:endParaRPr sz="3200">
              <a:solidFill>
                <a:schemeClr val="dk1"/>
              </a:solidFill>
            </a:endParaRPr>
          </a:p>
          <a:p>
            <a:pPr indent="-431800" lvl="0" marL="457200" marR="0" rtl="0" algn="l">
              <a:lnSpc>
                <a:spcPct val="100000"/>
              </a:lnSpc>
              <a:spcBef>
                <a:spcPts val="0"/>
              </a:spcBef>
              <a:spcAft>
                <a:spcPts val="0"/>
              </a:spcAft>
              <a:buClr>
                <a:schemeClr val="dk1"/>
              </a:buClr>
              <a:buSzPts val="3200"/>
              <a:buAutoNum type="alphaUcPeriod"/>
            </a:pPr>
            <a:r>
              <a:rPr lang="en-US" sz="3200">
                <a:solidFill>
                  <a:schemeClr val="dk1"/>
                </a:solidFill>
              </a:rPr>
              <a:t>Transmits 255-byte packets every 41ms using 50kbps Sub-1 GHz PHY.</a:t>
            </a:r>
            <a:endParaRPr sz="3200">
              <a:solidFill>
                <a:schemeClr val="dk1"/>
              </a:solidFill>
            </a:endParaRPr>
          </a:p>
        </p:txBody>
      </p:sp>
      <p:sp>
        <p:nvSpPr>
          <p:cNvPr id="43" name="Google Shape;43;p1"/>
          <p:cNvSpPr txBox="1"/>
          <p:nvPr/>
        </p:nvSpPr>
        <p:spPr>
          <a:xfrm>
            <a:off x="22525700" y="14172925"/>
            <a:ext cx="9421200" cy="5880000"/>
          </a:xfrm>
          <a:prstGeom prst="rect">
            <a:avLst/>
          </a:prstGeom>
          <a:solidFill>
            <a:schemeClr val="lt1">
              <a:alpha val="62352"/>
            </a:schemeClr>
          </a:solidFill>
          <a:ln>
            <a:noFill/>
          </a:ln>
        </p:spPr>
        <p:txBody>
          <a:bodyPr anchorCtr="0" anchor="t" bIns="45700" lIns="91425" spcFirstLastPara="1" rIns="91425" wrap="square" tIns="45700">
            <a:spAutoFit/>
          </a:bodyPr>
          <a:lstStyle/>
          <a:p>
            <a:pPr indent="0" lvl="0" marL="0" marR="0" rtl="0" algn="l">
              <a:lnSpc>
                <a:spcPct val="95833"/>
              </a:lnSpc>
              <a:spcBef>
                <a:spcPts val="0"/>
              </a:spcBef>
              <a:spcAft>
                <a:spcPts val="0"/>
              </a:spcAft>
              <a:buClr>
                <a:srgbClr val="000000"/>
              </a:buClr>
              <a:buSzPts val="4800"/>
              <a:buFont typeface="Arial"/>
              <a:buNone/>
            </a:pPr>
            <a:r>
              <a:rPr b="1" i="0" lang="en-US" sz="4800" u="sng" cap="none" strike="noStrike">
                <a:solidFill>
                  <a:srgbClr val="5D0025"/>
                </a:solidFill>
                <a:latin typeface="Arial"/>
                <a:ea typeface="Arial"/>
                <a:cs typeface="Arial"/>
                <a:sym typeface="Arial"/>
              </a:rPr>
              <a:t>Outcomes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800"/>
              <a:buFont typeface="Arial"/>
              <a:buNone/>
            </a:pPr>
            <a:r>
              <a:rPr lang="en-US" sz="3200"/>
              <a:t>Our walkie-talkies were able to communicate via mesh network by functioning as both a receiver and a transmitter. The LCD is able to update dynamically, indicating the origin of the audio on each device. Due to our audio PCB teammate dropping the course, there were problems with audio compression leading to inaudible speech on the receiver. The battery and power system was able to power the device, under normal usage conditions, for 23.5 hours.  </a:t>
            </a:r>
            <a:endParaRPr b="0" i="0" sz="3200" u="none" cap="none" strike="noStrike">
              <a:solidFill>
                <a:srgbClr val="000000"/>
              </a:solidFill>
              <a:latin typeface="Arial"/>
              <a:ea typeface="Arial"/>
              <a:cs typeface="Arial"/>
              <a:sym typeface="Arial"/>
            </a:endParaRPr>
          </a:p>
        </p:txBody>
      </p:sp>
      <p:sp>
        <p:nvSpPr>
          <p:cNvPr id="44" name="Google Shape;44;p1"/>
          <p:cNvSpPr txBox="1"/>
          <p:nvPr/>
        </p:nvSpPr>
        <p:spPr>
          <a:xfrm>
            <a:off x="32988967" y="15242730"/>
            <a:ext cx="9562200" cy="8311800"/>
          </a:xfrm>
          <a:prstGeom prst="rect">
            <a:avLst/>
          </a:prstGeom>
          <a:solidFill>
            <a:schemeClr val="lt1">
              <a:alpha val="62352"/>
            </a:schemeClr>
          </a:solidFill>
          <a:ln>
            <a:noFill/>
          </a:ln>
        </p:spPr>
        <p:txBody>
          <a:bodyPr anchorCtr="0" anchor="t" bIns="45700" lIns="91425" spcFirstLastPara="1" rIns="91425" wrap="square" tIns="45700">
            <a:spAutoFit/>
          </a:bodyPr>
          <a:lstStyle/>
          <a:p>
            <a:pPr indent="0" lvl="0" marL="0" marR="0" rtl="0" algn="l">
              <a:lnSpc>
                <a:spcPct val="95833"/>
              </a:lnSpc>
              <a:spcBef>
                <a:spcPts val="0"/>
              </a:spcBef>
              <a:spcAft>
                <a:spcPts val="0"/>
              </a:spcAft>
              <a:buClr>
                <a:srgbClr val="000000"/>
              </a:buClr>
              <a:buSzPts val="4800"/>
              <a:buFont typeface="Arial"/>
              <a:buNone/>
            </a:pPr>
            <a:r>
              <a:rPr b="1" i="0" lang="en-US" sz="4800" u="sng" cap="none" strike="noStrike">
                <a:solidFill>
                  <a:srgbClr val="5D0025"/>
                </a:solidFill>
                <a:latin typeface="Arial"/>
                <a:ea typeface="Arial"/>
                <a:cs typeface="Arial"/>
                <a:sym typeface="Arial"/>
              </a:rPr>
              <a:t>Impact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800"/>
              <a:buFont typeface="Arial"/>
              <a:buNone/>
            </a:pPr>
            <a:r>
              <a:rPr lang="en-US" sz="3200">
                <a:solidFill>
                  <a:schemeClr val="dk1"/>
                </a:solidFill>
              </a:rPr>
              <a:t>The devices enable long-range communication because of the network advantage achieved via mesh hopping.  This is applicable in a wide variety of areas</a:t>
            </a:r>
            <a:r>
              <a:rPr b="0" i="0" lang="en-US" sz="3200" u="none" cap="none" strike="noStrike">
                <a:solidFill>
                  <a:schemeClr val="dk1"/>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a:p>
            <a:pPr indent="-438150" lvl="1" marL="914400" marR="0" rtl="0" algn="l">
              <a:lnSpc>
                <a:spcPct val="100000"/>
              </a:lnSpc>
              <a:spcBef>
                <a:spcPts val="1200"/>
              </a:spcBef>
              <a:spcAft>
                <a:spcPts val="0"/>
              </a:spcAft>
              <a:buClr>
                <a:schemeClr val="dk2"/>
              </a:buClr>
              <a:buSzPts val="3200"/>
              <a:buFont typeface="Arial"/>
              <a:buChar char="•"/>
            </a:pPr>
            <a:r>
              <a:rPr b="1" i="0" lang="en-US" sz="3200" u="none" cap="none" strike="noStrike">
                <a:solidFill>
                  <a:schemeClr val="dk1"/>
                </a:solidFill>
                <a:latin typeface="Arial"/>
                <a:ea typeface="Arial"/>
                <a:cs typeface="Arial"/>
                <a:sym typeface="Arial"/>
              </a:rPr>
              <a:t>Search and Rescue</a:t>
            </a:r>
            <a:r>
              <a:rPr b="1" lang="en-US" sz="3200">
                <a:solidFill>
                  <a:schemeClr val="dk1"/>
                </a:solidFill>
              </a:rPr>
              <a:t>:</a:t>
            </a:r>
            <a:r>
              <a:rPr b="1" i="0" lang="en-US" sz="3200" u="none" cap="none" strike="noStrike">
                <a:solidFill>
                  <a:schemeClr val="dk1"/>
                </a:solidFill>
                <a:latin typeface="Arial"/>
                <a:ea typeface="Arial"/>
                <a:cs typeface="Arial"/>
                <a:sym typeface="Arial"/>
              </a:rPr>
              <a:t> </a:t>
            </a:r>
            <a:r>
              <a:rPr lang="en-US" sz="3200">
                <a:solidFill>
                  <a:schemeClr val="dk1"/>
                </a:solidFill>
              </a:rPr>
              <a:t>People spreading out over a specific area where everyone needs to hear everyone else.</a:t>
            </a:r>
            <a:endParaRPr b="0" i="0" sz="3200" u="none" cap="none" strike="noStrike">
              <a:solidFill>
                <a:srgbClr val="000000"/>
              </a:solidFill>
              <a:latin typeface="Arial"/>
              <a:ea typeface="Arial"/>
              <a:cs typeface="Arial"/>
              <a:sym typeface="Arial"/>
            </a:endParaRPr>
          </a:p>
          <a:p>
            <a:pPr indent="-438150" lvl="1" marL="914400" marR="0" rtl="0" algn="l">
              <a:lnSpc>
                <a:spcPct val="100000"/>
              </a:lnSpc>
              <a:spcBef>
                <a:spcPts val="1200"/>
              </a:spcBef>
              <a:spcAft>
                <a:spcPts val="0"/>
              </a:spcAft>
              <a:buClr>
                <a:schemeClr val="dk2"/>
              </a:buClr>
              <a:buSzPts val="3200"/>
              <a:buFont typeface="Arial"/>
              <a:buChar char="•"/>
            </a:pPr>
            <a:r>
              <a:rPr b="1" lang="en-US" sz="3200">
                <a:solidFill>
                  <a:schemeClr val="dk1"/>
                </a:solidFill>
              </a:rPr>
              <a:t>Group Outdoor Activity</a:t>
            </a:r>
            <a:r>
              <a:rPr b="1" i="0" lang="en-US" sz="3200" u="none" cap="none" strike="noStrike">
                <a:solidFill>
                  <a:schemeClr val="dk1"/>
                </a:solidFill>
                <a:latin typeface="Arial"/>
                <a:ea typeface="Arial"/>
                <a:cs typeface="Arial"/>
                <a:sym typeface="Arial"/>
              </a:rPr>
              <a:t>: </a:t>
            </a:r>
            <a:r>
              <a:rPr lang="en-US" sz="3200">
                <a:solidFill>
                  <a:schemeClr val="dk1"/>
                </a:solidFill>
              </a:rPr>
              <a:t>Handheld, with a long battery life, and easily-operated, these devices </a:t>
            </a:r>
            <a:r>
              <a:rPr lang="en-US" sz="3200">
                <a:solidFill>
                  <a:schemeClr val="dk1"/>
                </a:solidFill>
              </a:rPr>
              <a:t>hel</a:t>
            </a:r>
            <a:r>
              <a:rPr lang="en-US" sz="3200">
                <a:solidFill>
                  <a:schemeClr val="dk1"/>
                </a:solidFill>
              </a:rPr>
              <a:t>p keep families and friends in contact with everyone</a:t>
            </a:r>
            <a:r>
              <a:rPr b="0" i="0" lang="en-US" sz="3200" u="none" cap="none" strike="noStrike">
                <a:solidFill>
                  <a:schemeClr val="dk1"/>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a:p>
            <a:pPr indent="-438150" lvl="1" marL="914400" marR="0" rtl="0" algn="l">
              <a:lnSpc>
                <a:spcPct val="100000"/>
              </a:lnSpc>
              <a:spcBef>
                <a:spcPts val="1200"/>
              </a:spcBef>
              <a:spcAft>
                <a:spcPts val="0"/>
              </a:spcAft>
              <a:buClr>
                <a:schemeClr val="dk2"/>
              </a:buClr>
              <a:buSzPts val="3200"/>
              <a:buFont typeface="Arial"/>
              <a:buChar char="•"/>
            </a:pPr>
            <a:r>
              <a:rPr b="1" lang="en-US" sz="3200">
                <a:solidFill>
                  <a:schemeClr val="dk1"/>
                </a:solidFill>
              </a:rPr>
              <a:t>Environments</a:t>
            </a:r>
            <a:r>
              <a:rPr b="1" lang="en-US" sz="3200">
                <a:solidFill>
                  <a:schemeClr val="dk1"/>
                </a:solidFill>
              </a:rPr>
              <a:t> with Obstructions</a:t>
            </a:r>
            <a:r>
              <a:rPr b="1" i="0" lang="en-US" sz="3200" u="none" cap="none" strike="noStrike">
                <a:solidFill>
                  <a:schemeClr val="dk1"/>
                </a:solidFill>
                <a:latin typeface="Arial"/>
                <a:ea typeface="Arial"/>
                <a:cs typeface="Arial"/>
                <a:sym typeface="Arial"/>
              </a:rPr>
              <a:t>:</a:t>
            </a:r>
            <a:r>
              <a:rPr b="0" i="0" lang="en-US" sz="3200" u="none" cap="none" strike="noStrike">
                <a:solidFill>
                  <a:schemeClr val="dk1"/>
                </a:solidFill>
                <a:latin typeface="Arial"/>
                <a:ea typeface="Arial"/>
                <a:cs typeface="Arial"/>
                <a:sym typeface="Arial"/>
              </a:rPr>
              <a:t> </a:t>
            </a:r>
            <a:r>
              <a:rPr lang="en-US" sz="3200">
                <a:solidFill>
                  <a:schemeClr val="dk1"/>
                </a:solidFill>
              </a:rPr>
              <a:t>Line of sight connection is not required (it can bounce around the obstruction)</a:t>
            </a:r>
            <a:endParaRPr b="0" i="0" sz="3200" u="none" cap="none" strike="noStrike">
              <a:solidFill>
                <a:srgbClr val="000000"/>
              </a:solidFill>
              <a:latin typeface="Arial"/>
              <a:ea typeface="Arial"/>
              <a:cs typeface="Arial"/>
              <a:sym typeface="Arial"/>
            </a:endParaRPr>
          </a:p>
        </p:txBody>
      </p:sp>
      <p:sp>
        <p:nvSpPr>
          <p:cNvPr id="45" name="Google Shape;45;p1"/>
          <p:cNvSpPr txBox="1"/>
          <p:nvPr/>
        </p:nvSpPr>
        <p:spPr>
          <a:xfrm>
            <a:off x="33290458" y="24077862"/>
            <a:ext cx="9917100" cy="5110200"/>
          </a:xfrm>
          <a:prstGeom prst="rect">
            <a:avLst/>
          </a:prstGeom>
          <a:solidFill>
            <a:schemeClr val="lt1">
              <a:alpha val="62352"/>
            </a:schemeClr>
          </a:solidFill>
          <a:ln>
            <a:noFill/>
          </a:ln>
        </p:spPr>
        <p:txBody>
          <a:bodyPr anchorCtr="0" anchor="t" bIns="45700" lIns="91425" spcFirstLastPara="1" rIns="91425" wrap="square" tIns="45700">
            <a:spAutoFit/>
          </a:bodyPr>
          <a:lstStyle/>
          <a:p>
            <a:pPr indent="0" lvl="0" marL="0" marR="0" rtl="0" algn="l">
              <a:lnSpc>
                <a:spcPct val="95000"/>
              </a:lnSpc>
              <a:spcBef>
                <a:spcPts val="0"/>
              </a:spcBef>
              <a:spcAft>
                <a:spcPts val="0"/>
              </a:spcAft>
              <a:buClr>
                <a:srgbClr val="000000"/>
              </a:buClr>
              <a:buSzPts val="4000"/>
              <a:buFont typeface="Arial"/>
              <a:buNone/>
            </a:pPr>
            <a:r>
              <a:rPr b="1" i="0" lang="en-US" sz="4000" u="sng" cap="none" strike="noStrike">
                <a:solidFill>
                  <a:srgbClr val="5D0025"/>
                </a:solidFill>
                <a:latin typeface="Arial"/>
                <a:ea typeface="Arial"/>
                <a:cs typeface="Arial"/>
                <a:sym typeface="Arial"/>
              </a:rPr>
              <a:t>References</a:t>
            </a:r>
            <a:endParaRPr b="0" i="0" sz="4000" u="sng" cap="none" strike="noStrike">
              <a:solidFill>
                <a:srgbClr val="5D0025"/>
              </a:solidFill>
              <a:latin typeface="Arial"/>
              <a:ea typeface="Arial"/>
              <a:cs typeface="Arial"/>
              <a:sym typeface="Arial"/>
            </a:endParaRPr>
          </a:p>
          <a:p>
            <a:pPr indent="31750" lvl="0" marL="0" marR="0" rtl="0" algn="l">
              <a:lnSpc>
                <a:spcPct val="100000"/>
              </a:lnSpc>
              <a:spcBef>
                <a:spcPts val="1200"/>
              </a:spcBef>
              <a:spcAft>
                <a:spcPts val="0"/>
              </a:spcAft>
              <a:buClr>
                <a:schemeClr val="dk2"/>
              </a:buClr>
              <a:buSzPts val="1900"/>
              <a:buFont typeface="Arial"/>
              <a:buAutoNum type="arabicPeriod"/>
            </a:pPr>
            <a:r>
              <a:rPr lang="en-US" sz="1900"/>
              <a:t>Texas Instruments, </a:t>
            </a:r>
            <a:r>
              <a:rPr i="1" lang="en-US" sz="1900"/>
              <a:t>TPS796 Low-Dropout Regulator datasheet</a:t>
            </a:r>
            <a:r>
              <a:rPr lang="en-US" sz="1900"/>
              <a:t>, Rev. Y, Apr. 2016. [Online].</a:t>
            </a:r>
            <a:endParaRPr sz="1900"/>
          </a:p>
          <a:p>
            <a:pPr indent="31750" lvl="0" marL="0" marR="0" rtl="0" algn="l">
              <a:lnSpc>
                <a:spcPct val="100000"/>
              </a:lnSpc>
              <a:spcBef>
                <a:spcPts val="1200"/>
              </a:spcBef>
              <a:spcAft>
                <a:spcPts val="0"/>
              </a:spcAft>
              <a:buSzPts val="1900"/>
              <a:buAutoNum type="arabicPeriod"/>
            </a:pPr>
            <a:r>
              <a:rPr lang="en-US" sz="1900"/>
              <a:t>Microchip Technology Inc., </a:t>
            </a:r>
            <a:r>
              <a:rPr i="1" lang="en-US" sz="1900"/>
              <a:t>MIC2288 1.2MHz PWM Boost Converter datasheet</a:t>
            </a:r>
            <a:r>
              <a:rPr lang="en-US" sz="1900"/>
              <a:t>, DS20006034C, May 2018. [Online].</a:t>
            </a:r>
            <a:endParaRPr sz="1900"/>
          </a:p>
          <a:p>
            <a:pPr indent="31750" lvl="0" marL="0" marR="0" rtl="0" algn="l">
              <a:lnSpc>
                <a:spcPct val="100000"/>
              </a:lnSpc>
              <a:spcBef>
                <a:spcPts val="1200"/>
              </a:spcBef>
              <a:spcAft>
                <a:spcPts val="0"/>
              </a:spcAft>
              <a:buSzPts val="1900"/>
              <a:buAutoNum type="arabicPeriod"/>
            </a:pPr>
            <a:r>
              <a:rPr lang="en-US" sz="1900"/>
              <a:t>STMicroelectronics, "LDL1117: 1.2 A high PSRR low-dropout linear voltage regulator," Datasheet, Rev. 7, Jan. 2021. [Online].</a:t>
            </a:r>
            <a:endParaRPr sz="1900"/>
          </a:p>
          <a:p>
            <a:pPr indent="31750" lvl="0" marL="0" marR="0" rtl="0" algn="l">
              <a:lnSpc>
                <a:spcPct val="100000"/>
              </a:lnSpc>
              <a:spcBef>
                <a:spcPts val="1200"/>
              </a:spcBef>
              <a:spcAft>
                <a:spcPts val="0"/>
              </a:spcAft>
              <a:buSzPts val="1900"/>
              <a:buAutoNum type="arabicPeriod"/>
            </a:pPr>
            <a:r>
              <a:rPr lang="en-US" sz="1900"/>
              <a:t>Texas Instruments, "BQ297xx: Cost-Effective Voltage and Current Protection Integrated Circuit for Single-Cell Li-Ion and Li-Polymer Batteries," Datasheet, Rev. I, Aug. 2024. [Online]. </a:t>
            </a:r>
            <a:endParaRPr sz="1900"/>
          </a:p>
          <a:p>
            <a:pPr indent="31750" lvl="0" marL="0" marR="0" rtl="0" algn="l">
              <a:lnSpc>
                <a:spcPct val="100000"/>
              </a:lnSpc>
              <a:spcBef>
                <a:spcPts val="1200"/>
              </a:spcBef>
              <a:spcAft>
                <a:spcPts val="0"/>
              </a:spcAft>
              <a:buSzPts val="1900"/>
              <a:buAutoNum type="arabicPeriod"/>
            </a:pPr>
            <a:r>
              <a:rPr lang="en-US" sz="1900"/>
              <a:t>Texas Instruments, </a:t>
            </a:r>
            <a:r>
              <a:rPr i="1" lang="en-US" sz="1900"/>
              <a:t>BQ24072 Li-Ion Linear Charger and Power-Path Management IC datasheet</a:t>
            </a:r>
            <a:r>
              <a:rPr lang="en-US" sz="1900"/>
              <a:t>, Rev. I, Jul. 2015. [Online].</a:t>
            </a:r>
            <a:endParaRPr sz="1900"/>
          </a:p>
          <a:p>
            <a:pPr indent="31750" lvl="0" marL="0" marR="0" rtl="0" algn="l">
              <a:lnSpc>
                <a:spcPct val="100000"/>
              </a:lnSpc>
              <a:spcBef>
                <a:spcPts val="1200"/>
              </a:spcBef>
              <a:spcAft>
                <a:spcPts val="0"/>
              </a:spcAft>
              <a:buSzPts val="1900"/>
              <a:buAutoNum type="arabicPeriod"/>
            </a:pPr>
            <a:r>
              <a:rPr lang="en-US" sz="1900"/>
              <a:t>Texas Instruments, </a:t>
            </a:r>
            <a:r>
              <a:rPr i="1" lang="en-US" sz="1900"/>
              <a:t>CC1354P10 SimpleLink™ datasheet</a:t>
            </a:r>
            <a:r>
              <a:rPr lang="en-US" sz="1900"/>
              <a:t>, Rev. B, Dec. 2023. [Online]</a:t>
            </a:r>
            <a:endParaRPr sz="1900"/>
          </a:p>
        </p:txBody>
      </p:sp>
      <p:sp>
        <p:nvSpPr>
          <p:cNvPr id="46" name="Google Shape;46;p1"/>
          <p:cNvSpPr txBox="1"/>
          <p:nvPr/>
        </p:nvSpPr>
        <p:spPr>
          <a:xfrm>
            <a:off x="11610190" y="23554527"/>
            <a:ext cx="9829800" cy="523200"/>
          </a:xfrm>
          <a:prstGeom prst="rect">
            <a:avLst/>
          </a:prstGeom>
          <a:solidFill>
            <a:schemeClr val="lt1">
              <a:alpha val="41568"/>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1" lang="en-US" sz="2800" u="none" cap="none" strike="noStrike">
                <a:solidFill>
                  <a:schemeClr val="dk1"/>
                </a:solidFill>
              </a:rPr>
              <a:t>Table 1. </a:t>
            </a:r>
            <a:r>
              <a:rPr b="1" i="1" lang="en-US" sz="2800">
                <a:solidFill>
                  <a:schemeClr val="dk1"/>
                </a:solidFill>
              </a:rPr>
              <a:t>Sponsor Specs</a:t>
            </a:r>
            <a:r>
              <a:rPr b="1" i="1" lang="en-US" sz="2800" u="none" cap="none" strike="noStrike">
                <a:solidFill>
                  <a:schemeClr val="dk1"/>
                </a:solidFill>
              </a:rPr>
              <a:t>  </a:t>
            </a:r>
            <a:endParaRPr b="1" i="0" sz="1400" u="none" cap="none" strike="noStrike">
              <a:solidFill>
                <a:srgbClr val="000000"/>
              </a:solidFill>
            </a:endParaRPr>
          </a:p>
        </p:txBody>
      </p:sp>
      <p:sp>
        <p:nvSpPr>
          <p:cNvPr id="47" name="Google Shape;47;p1"/>
          <p:cNvSpPr txBox="1"/>
          <p:nvPr/>
        </p:nvSpPr>
        <p:spPr>
          <a:xfrm>
            <a:off x="22206886" y="30749105"/>
            <a:ext cx="9829800" cy="523200"/>
          </a:xfrm>
          <a:prstGeom prst="rect">
            <a:avLst/>
          </a:prstGeom>
          <a:solidFill>
            <a:schemeClr val="lt1">
              <a:alpha val="41570"/>
            </a:schemeClr>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Arial"/>
                <a:ea typeface="Arial"/>
                <a:cs typeface="Arial"/>
                <a:sym typeface="Arial"/>
              </a:rPr>
              <a:t>Figure 4. </a:t>
            </a:r>
            <a:r>
              <a:rPr i="1" lang="en-US" sz="2800">
                <a:solidFill>
                  <a:schemeClr val="dk1"/>
                </a:solidFill>
              </a:rPr>
              <a:t>LCD Updates</a:t>
            </a:r>
            <a:endParaRPr b="0" i="0" sz="1400" u="none" cap="none" strike="noStrike">
              <a:solidFill>
                <a:srgbClr val="000000"/>
              </a:solidFill>
              <a:latin typeface="Arial"/>
              <a:ea typeface="Arial"/>
              <a:cs typeface="Arial"/>
              <a:sym typeface="Arial"/>
            </a:endParaRPr>
          </a:p>
        </p:txBody>
      </p:sp>
      <p:sp>
        <p:nvSpPr>
          <p:cNvPr id="48" name="Google Shape;48;p1"/>
          <p:cNvSpPr txBox="1"/>
          <p:nvPr/>
        </p:nvSpPr>
        <p:spPr>
          <a:xfrm>
            <a:off x="32974233" y="29845696"/>
            <a:ext cx="10705800" cy="1200600"/>
          </a:xfrm>
          <a:prstGeom prst="rect">
            <a:avLst/>
          </a:prstGeom>
          <a:solidFill>
            <a:schemeClr val="lt1">
              <a:alpha val="62352"/>
            </a:schemeClr>
          </a:solidFill>
          <a:ln>
            <a:noFill/>
          </a:ln>
        </p:spPr>
        <p:txBody>
          <a:bodyPr anchorCtr="0" anchor="t" bIns="45700" lIns="91425" spcFirstLastPara="1" rIns="91425" wrap="square" tIns="45700">
            <a:spAutoFit/>
          </a:bodyPr>
          <a:lstStyle/>
          <a:p>
            <a:pPr indent="0" lvl="0" marL="0" marR="0" rtl="0" algn="l">
              <a:lnSpc>
                <a:spcPct val="95000"/>
              </a:lnSpc>
              <a:spcBef>
                <a:spcPts val="0"/>
              </a:spcBef>
              <a:spcAft>
                <a:spcPts val="0"/>
              </a:spcAft>
              <a:buClr>
                <a:srgbClr val="000000"/>
              </a:buClr>
              <a:buSzPts val="4000"/>
              <a:buFont typeface="Arial"/>
              <a:buNone/>
            </a:pPr>
            <a:r>
              <a:rPr b="1" i="0" lang="en-US" sz="4000" u="sng" cap="none" strike="noStrike">
                <a:solidFill>
                  <a:srgbClr val="5D0025"/>
                </a:solidFill>
                <a:latin typeface="Arial"/>
                <a:ea typeface="Arial"/>
                <a:cs typeface="Arial"/>
                <a:sym typeface="Arial"/>
              </a:rPr>
              <a:t>Acknowledgements</a:t>
            </a:r>
            <a:endParaRPr b="0" i="0" sz="4000" u="sng" cap="none" strike="noStrike">
              <a:solidFill>
                <a:srgbClr val="5D0025"/>
              </a:solidFill>
              <a:latin typeface="Arial"/>
              <a:ea typeface="Arial"/>
              <a:cs typeface="Arial"/>
              <a:sym typeface="Arial"/>
            </a:endParaRPr>
          </a:p>
          <a:p>
            <a:pPr indent="0" lvl="0" marL="0" marR="0" rtl="0" algn="l">
              <a:lnSpc>
                <a:spcPct val="158333"/>
              </a:lnSpc>
              <a:spcBef>
                <a:spcPts val="1200"/>
              </a:spcBef>
              <a:spcAft>
                <a:spcPts val="0"/>
              </a:spcAft>
              <a:buClr>
                <a:srgbClr val="000000"/>
              </a:buClr>
              <a:buSzPts val="2400"/>
              <a:buFont typeface="Arial"/>
              <a:buNone/>
            </a:pPr>
            <a:r>
              <a:rPr lang="en-US" sz="2400">
                <a:solidFill>
                  <a:schemeClr val="dk1"/>
                </a:solidFill>
              </a:rPr>
              <a:t>Giuseppe Rizzi, Dr. John Lusher</a:t>
            </a:r>
            <a:endParaRPr b="0" i="0" sz="1400" u="none" cap="none" strike="noStrike">
              <a:solidFill>
                <a:srgbClr val="000000"/>
              </a:solidFill>
              <a:latin typeface="Arial"/>
              <a:ea typeface="Arial"/>
              <a:cs typeface="Arial"/>
              <a:sym typeface="Arial"/>
            </a:endParaRPr>
          </a:p>
        </p:txBody>
      </p:sp>
      <p:graphicFrame>
        <p:nvGraphicFramePr>
          <p:cNvPr id="49" name="Google Shape;49;p1"/>
          <p:cNvGraphicFramePr/>
          <p:nvPr/>
        </p:nvGraphicFramePr>
        <p:xfrm>
          <a:off x="33075105" y="7674597"/>
          <a:ext cx="3000000" cy="3000000"/>
        </p:xfrm>
        <a:graphic>
          <a:graphicData uri="http://schemas.openxmlformats.org/drawingml/2006/table">
            <a:tbl>
              <a:tblPr bandRow="1" firstRow="1">
                <a:noFill/>
                <a:tableStyleId>{B5D431F2-BE6A-4ACA-B54C-79C2FC7B2A14}</a:tableStyleId>
              </a:tblPr>
              <a:tblGrid>
                <a:gridCol w="3327025"/>
                <a:gridCol w="3719950"/>
                <a:gridCol w="3300825"/>
              </a:tblGrid>
              <a:tr h="513750">
                <a:tc>
                  <a:txBody>
                    <a:bodyPr/>
                    <a:lstStyle/>
                    <a:p>
                      <a:pPr indent="0" lvl="0" marL="0" rtl="0" algn="l">
                        <a:spcBef>
                          <a:spcPts val="0"/>
                        </a:spcBef>
                        <a:spcAft>
                          <a:spcPts val="0"/>
                        </a:spcAft>
                        <a:buNone/>
                      </a:pPr>
                      <a:r>
                        <a:t/>
                      </a:r>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a:t>Input Voltage</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a:t>Current Draw</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0400">
                <a:tc>
                  <a:txBody>
                    <a:bodyPr/>
                    <a:lstStyle/>
                    <a:p>
                      <a:pPr indent="0" lvl="0" marL="0" marR="0" rtl="0" algn="ctr">
                        <a:lnSpc>
                          <a:spcPct val="100000"/>
                        </a:lnSpc>
                        <a:spcBef>
                          <a:spcPts val="0"/>
                        </a:spcBef>
                        <a:spcAft>
                          <a:spcPts val="0"/>
                        </a:spcAft>
                        <a:buClr>
                          <a:schemeClr val="dk1"/>
                        </a:buClr>
                        <a:buSzPts val="2100"/>
                        <a:buFont typeface="Arial"/>
                        <a:buNone/>
                      </a:pPr>
                      <a:r>
                        <a:rPr lang="en-US" sz="2100"/>
                        <a:t>Microphone</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a:t>5.0V</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a:t>17mA</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17075">
                <a:tc>
                  <a:txBody>
                    <a:bodyPr/>
                    <a:lstStyle/>
                    <a:p>
                      <a:pPr indent="0" lvl="0" marL="0" marR="0" rtl="0" algn="ctr">
                        <a:lnSpc>
                          <a:spcPct val="100000"/>
                        </a:lnSpc>
                        <a:spcBef>
                          <a:spcPts val="0"/>
                        </a:spcBef>
                        <a:spcAft>
                          <a:spcPts val="0"/>
                        </a:spcAft>
                        <a:buClr>
                          <a:schemeClr val="dk1"/>
                        </a:buClr>
                        <a:buSzPts val="2100"/>
                        <a:buFont typeface="Arial"/>
                        <a:buNone/>
                      </a:pPr>
                      <a:r>
                        <a:rPr lang="en-US" sz="2100"/>
                        <a:t>Speaker</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a:t>5.0V</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a:t>317mA</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96750">
                <a:tc>
                  <a:txBody>
                    <a:bodyPr/>
                    <a:lstStyle/>
                    <a:p>
                      <a:pPr indent="0" lvl="0" marL="0" marR="0" rtl="0" algn="ctr">
                        <a:lnSpc>
                          <a:spcPct val="100000"/>
                        </a:lnSpc>
                        <a:spcBef>
                          <a:spcPts val="0"/>
                        </a:spcBef>
                        <a:spcAft>
                          <a:spcPts val="0"/>
                        </a:spcAft>
                        <a:buClr>
                          <a:schemeClr val="dk1"/>
                        </a:buClr>
                        <a:buSzPts val="2100"/>
                        <a:buFont typeface="Arial"/>
                        <a:buNone/>
                      </a:pPr>
                      <a:r>
                        <a:rPr lang="en-US" sz="2100"/>
                        <a:t>LCD Display</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a:t>5.0V</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a:t>25mA</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96750">
                <a:tc>
                  <a:txBody>
                    <a:bodyPr/>
                    <a:lstStyle/>
                    <a:p>
                      <a:pPr indent="0" lvl="0" marL="0" marR="0" rtl="0" algn="ctr">
                        <a:lnSpc>
                          <a:spcPct val="100000"/>
                        </a:lnSpc>
                        <a:spcBef>
                          <a:spcPts val="0"/>
                        </a:spcBef>
                        <a:spcAft>
                          <a:spcPts val="0"/>
                        </a:spcAft>
                        <a:buClr>
                          <a:schemeClr val="dk1"/>
                        </a:buClr>
                        <a:buSzPts val="2100"/>
                        <a:buFont typeface="Arial"/>
                        <a:buNone/>
                      </a:pPr>
                      <a:r>
                        <a:rPr lang="en-US" sz="2100">
                          <a:solidFill>
                            <a:schemeClr val="dk1"/>
                          </a:solidFill>
                        </a:rPr>
                        <a:t>Microcontroller</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a:solidFill>
                            <a:schemeClr val="dk1"/>
                          </a:solidFill>
                        </a:rPr>
                        <a:t>3.3V</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a:solidFill>
                            <a:schemeClr val="dk1"/>
                          </a:solidFill>
                        </a:rPr>
                        <a:t>16mA</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0" name="Google Shape;50;p1"/>
          <p:cNvSpPr txBox="1"/>
          <p:nvPr/>
        </p:nvSpPr>
        <p:spPr>
          <a:xfrm>
            <a:off x="32974233" y="7027661"/>
            <a:ext cx="9829801" cy="523220"/>
          </a:xfrm>
          <a:prstGeom prst="rect">
            <a:avLst/>
          </a:prstGeom>
          <a:solidFill>
            <a:schemeClr val="lt1">
              <a:alpha val="41568"/>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1" lang="en-US" sz="2800" u="none" cap="none" strike="noStrike">
                <a:solidFill>
                  <a:schemeClr val="dk1"/>
                </a:solidFill>
              </a:rPr>
              <a:t>Table </a:t>
            </a:r>
            <a:r>
              <a:rPr b="1" i="1" lang="en-US" sz="2800">
                <a:solidFill>
                  <a:schemeClr val="dk1"/>
                </a:solidFill>
              </a:rPr>
              <a:t>3</a:t>
            </a:r>
            <a:r>
              <a:rPr b="1" i="1" lang="en-US" sz="2800" u="none" cap="none" strike="noStrike">
                <a:solidFill>
                  <a:schemeClr val="dk1"/>
                </a:solidFill>
              </a:rPr>
              <a:t>. </a:t>
            </a:r>
            <a:r>
              <a:rPr b="1" i="1" lang="en-US" sz="2800">
                <a:solidFill>
                  <a:schemeClr val="dk1"/>
                </a:solidFill>
              </a:rPr>
              <a:t>Power Consumption</a:t>
            </a:r>
            <a:endParaRPr b="1" i="0" sz="1400" u="none" cap="none" strike="noStrike">
              <a:solidFill>
                <a:srgbClr val="000000"/>
              </a:solidFill>
            </a:endParaRPr>
          </a:p>
        </p:txBody>
      </p:sp>
      <p:sp>
        <p:nvSpPr>
          <p:cNvPr id="51" name="Google Shape;51;p1"/>
          <p:cNvSpPr txBox="1"/>
          <p:nvPr/>
        </p:nvSpPr>
        <p:spPr>
          <a:xfrm>
            <a:off x="33059467" y="10594942"/>
            <a:ext cx="9421200" cy="4525200"/>
          </a:xfrm>
          <a:prstGeom prst="rect">
            <a:avLst/>
          </a:prstGeom>
          <a:solidFill>
            <a:schemeClr val="lt1">
              <a:alpha val="62352"/>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lang="en-US" sz="3200">
                <a:solidFill>
                  <a:schemeClr val="dk1"/>
                </a:solidFill>
              </a:rPr>
              <a:t>The four components within our walkie-talkie that draws current from the battery is listed in Table 1 above. The bulk of our current draw comes from powering the large speaker taking 317mA. However, with out 3.7V 2500mAh LiPo battery, it is able to power the device for 23.5 hours assuming 20% receiving, 20% transmitting, and 60% idle. The battery fully charges in 5-6 hours with a charging current of 1250mA. </a:t>
            </a:r>
            <a:endParaRPr b="0" i="0" sz="3200" u="none" cap="none" strike="noStrike">
              <a:solidFill>
                <a:srgbClr val="000000"/>
              </a:solidFill>
              <a:latin typeface="Arial"/>
              <a:ea typeface="Arial"/>
              <a:cs typeface="Arial"/>
              <a:sym typeface="Arial"/>
            </a:endParaRPr>
          </a:p>
        </p:txBody>
      </p:sp>
      <p:sp>
        <p:nvSpPr>
          <p:cNvPr id="52" name="Google Shape;52;p1"/>
          <p:cNvSpPr txBox="1"/>
          <p:nvPr/>
        </p:nvSpPr>
        <p:spPr>
          <a:xfrm>
            <a:off x="37444680" y="320040"/>
            <a:ext cx="6234478" cy="830997"/>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4800" u="none" cap="none" strike="noStrike">
                <a:solidFill>
                  <a:srgbClr val="000000"/>
                </a:solidFill>
                <a:latin typeface="Arial"/>
                <a:ea typeface="Arial"/>
                <a:cs typeface="Arial"/>
                <a:sym typeface="Arial"/>
              </a:rPr>
              <a:t>Booth Number: </a:t>
            </a:r>
            <a:r>
              <a:rPr b="1" lang="en-US" sz="4800"/>
              <a:t>340</a:t>
            </a:r>
            <a:r>
              <a:rPr b="1" i="0" lang="en-US" sz="4800" u="none" cap="none" strike="noStrike">
                <a:solidFill>
                  <a:srgbClr val="000000"/>
                </a:solidFill>
                <a:latin typeface="Arial"/>
                <a:ea typeface="Arial"/>
                <a:cs typeface="Arial"/>
                <a:sym typeface="Arial"/>
              </a:rPr>
              <a:t> </a:t>
            </a:r>
            <a:endParaRPr/>
          </a:p>
        </p:txBody>
      </p:sp>
      <p:pic>
        <p:nvPicPr>
          <p:cNvPr id="53" name="Google Shape;53;p1"/>
          <p:cNvPicPr preferRelativeResize="0"/>
          <p:nvPr/>
        </p:nvPicPr>
        <p:blipFill rotWithShape="1">
          <a:blip r:embed="rId3">
            <a:alphaModFix/>
          </a:blip>
          <a:srcRect b="0" l="0" r="0" t="0"/>
          <a:stretch/>
        </p:blipFill>
        <p:spPr>
          <a:xfrm>
            <a:off x="212042" y="3763619"/>
            <a:ext cx="11446557" cy="1427388"/>
          </a:xfrm>
          <a:prstGeom prst="rect">
            <a:avLst/>
          </a:prstGeom>
          <a:noFill/>
          <a:ln>
            <a:noFill/>
          </a:ln>
        </p:spPr>
      </p:pic>
      <p:pic>
        <p:nvPicPr>
          <p:cNvPr descr="A black background with white text&#10;&#10;AI-generated content may be incorrect." id="54" name="Google Shape;54;p1"/>
          <p:cNvPicPr preferRelativeResize="0"/>
          <p:nvPr/>
        </p:nvPicPr>
        <p:blipFill rotWithShape="1">
          <a:blip r:embed="rId4">
            <a:alphaModFix/>
          </a:blip>
          <a:srcRect b="0" l="0" r="0" t="0"/>
          <a:stretch/>
        </p:blipFill>
        <p:spPr>
          <a:xfrm>
            <a:off x="33075105" y="3184929"/>
            <a:ext cx="10347828" cy="2064382"/>
          </a:xfrm>
          <a:prstGeom prst="rect">
            <a:avLst/>
          </a:prstGeom>
          <a:noFill/>
          <a:ln>
            <a:noFill/>
          </a:ln>
        </p:spPr>
      </p:pic>
      <p:pic>
        <p:nvPicPr>
          <p:cNvPr id="55" name="Google Shape;55;p1"/>
          <p:cNvPicPr preferRelativeResize="0"/>
          <p:nvPr/>
        </p:nvPicPr>
        <p:blipFill>
          <a:blip r:embed="rId5">
            <a:alphaModFix/>
          </a:blip>
          <a:stretch>
            <a:fillRect/>
          </a:stretch>
        </p:blipFill>
        <p:spPr>
          <a:xfrm>
            <a:off x="11566550" y="15252502"/>
            <a:ext cx="9917100" cy="6299337"/>
          </a:xfrm>
          <a:prstGeom prst="rect">
            <a:avLst/>
          </a:prstGeom>
          <a:noFill/>
          <a:ln>
            <a:noFill/>
          </a:ln>
        </p:spPr>
      </p:pic>
      <p:pic>
        <p:nvPicPr>
          <p:cNvPr id="56" name="Google Shape;56;p1"/>
          <p:cNvPicPr preferRelativeResize="0"/>
          <p:nvPr/>
        </p:nvPicPr>
        <p:blipFill>
          <a:blip r:embed="rId6">
            <a:alphaModFix/>
          </a:blip>
          <a:stretch>
            <a:fillRect/>
          </a:stretch>
        </p:blipFill>
        <p:spPr>
          <a:xfrm rot="-5400000">
            <a:off x="24333636" y="18711401"/>
            <a:ext cx="5053750" cy="8465824"/>
          </a:xfrm>
          <a:prstGeom prst="rect">
            <a:avLst/>
          </a:prstGeom>
          <a:noFill/>
          <a:ln>
            <a:noFill/>
          </a:ln>
        </p:spPr>
      </p:pic>
      <p:pic>
        <p:nvPicPr>
          <p:cNvPr id="57" name="Google Shape;57;p1"/>
          <p:cNvPicPr preferRelativeResize="0"/>
          <p:nvPr/>
        </p:nvPicPr>
        <p:blipFill>
          <a:blip r:embed="rId7">
            <a:alphaModFix/>
          </a:blip>
          <a:stretch>
            <a:fillRect/>
          </a:stretch>
        </p:blipFill>
        <p:spPr>
          <a:xfrm rot="-5400000">
            <a:off x="24359138" y="23733324"/>
            <a:ext cx="5002726" cy="8545126"/>
          </a:xfrm>
          <a:prstGeom prst="rect">
            <a:avLst/>
          </a:prstGeom>
          <a:noFill/>
          <a:ln>
            <a:noFill/>
          </a:ln>
        </p:spPr>
      </p:pic>
      <p:pic>
        <p:nvPicPr>
          <p:cNvPr id="58" name="Google Shape;58;p1"/>
          <p:cNvPicPr preferRelativeResize="0"/>
          <p:nvPr/>
        </p:nvPicPr>
        <p:blipFill>
          <a:blip r:embed="rId8">
            <a:alphaModFix/>
          </a:blip>
          <a:stretch>
            <a:fillRect/>
          </a:stretch>
        </p:blipFill>
        <p:spPr>
          <a:xfrm>
            <a:off x="11351188" y="24259950"/>
            <a:ext cx="10347824" cy="6049013"/>
          </a:xfrm>
          <a:prstGeom prst="rect">
            <a:avLst/>
          </a:prstGeom>
          <a:noFill/>
          <a:ln>
            <a:noFill/>
          </a:ln>
        </p:spPr>
      </p:pic>
      <p:pic>
        <p:nvPicPr>
          <p:cNvPr id="59" name="Google Shape;59;p1"/>
          <p:cNvPicPr preferRelativeResize="0"/>
          <p:nvPr/>
        </p:nvPicPr>
        <p:blipFill>
          <a:blip r:embed="rId9">
            <a:alphaModFix/>
          </a:blip>
          <a:stretch>
            <a:fillRect/>
          </a:stretch>
        </p:blipFill>
        <p:spPr>
          <a:xfrm>
            <a:off x="22280913" y="7772000"/>
            <a:ext cx="9829799" cy="5286999"/>
          </a:xfrm>
          <a:prstGeom prst="rect">
            <a:avLst/>
          </a:prstGeom>
          <a:noFill/>
          <a:ln>
            <a:noFill/>
          </a:ln>
        </p:spPr>
      </p:pic>
      <p:sp>
        <p:nvSpPr>
          <p:cNvPr id="60" name="Google Shape;60;p1"/>
          <p:cNvSpPr txBox="1"/>
          <p:nvPr/>
        </p:nvSpPr>
        <p:spPr>
          <a:xfrm>
            <a:off x="22230483" y="7027674"/>
            <a:ext cx="9829800" cy="523200"/>
          </a:xfrm>
          <a:prstGeom prst="rect">
            <a:avLst/>
          </a:prstGeom>
          <a:solidFill>
            <a:schemeClr val="lt1">
              <a:alpha val="41570"/>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1" lang="en-US" sz="2800" u="none" cap="none" strike="noStrike">
                <a:solidFill>
                  <a:schemeClr val="dk1"/>
                </a:solidFill>
              </a:rPr>
              <a:t>Table </a:t>
            </a:r>
            <a:r>
              <a:rPr b="1" i="1" lang="en-US" sz="2800">
                <a:solidFill>
                  <a:schemeClr val="dk1"/>
                </a:solidFill>
              </a:rPr>
              <a:t>2</a:t>
            </a:r>
            <a:r>
              <a:rPr b="1" i="1" lang="en-US" sz="2800" u="none" cap="none" strike="noStrike">
                <a:solidFill>
                  <a:schemeClr val="dk1"/>
                </a:solidFill>
              </a:rPr>
              <a:t>. </a:t>
            </a:r>
            <a:r>
              <a:rPr b="1" i="1" lang="en-US" sz="2800">
                <a:solidFill>
                  <a:schemeClr val="dk1"/>
                </a:solidFill>
              </a:rPr>
              <a:t>Walkie Validation</a:t>
            </a:r>
            <a:endParaRPr b="1" i="0" sz="1400" u="none" cap="none" strike="noStrike">
              <a:solidFill>
                <a:srgbClr val="000000"/>
              </a:solidFill>
            </a:endParaRPr>
          </a:p>
        </p:txBody>
      </p:sp>
      <p:cxnSp>
        <p:nvCxnSpPr>
          <p:cNvPr id="61" name="Google Shape;61;p1"/>
          <p:cNvCxnSpPr/>
          <p:nvPr/>
        </p:nvCxnSpPr>
        <p:spPr>
          <a:xfrm>
            <a:off x="33507792" y="23816125"/>
            <a:ext cx="9482400" cy="0"/>
          </a:xfrm>
          <a:prstGeom prst="straightConnector1">
            <a:avLst/>
          </a:prstGeom>
          <a:noFill/>
          <a:ln cap="flat" cmpd="sng" w="25400">
            <a:solidFill>
              <a:schemeClr val="dk1"/>
            </a:solidFill>
            <a:prstDash val="dash"/>
            <a:round/>
            <a:headEnd len="sm" w="sm" type="none"/>
            <a:tailEnd len="sm" w="sm" type="none"/>
          </a:ln>
        </p:spPr>
      </p:cxnSp>
      <p:cxnSp>
        <p:nvCxnSpPr>
          <p:cNvPr id="62" name="Google Shape;62;p1"/>
          <p:cNvCxnSpPr/>
          <p:nvPr/>
        </p:nvCxnSpPr>
        <p:spPr>
          <a:xfrm>
            <a:off x="33028867" y="15242725"/>
            <a:ext cx="9482400" cy="0"/>
          </a:xfrm>
          <a:prstGeom prst="straightConnector1">
            <a:avLst/>
          </a:prstGeom>
          <a:noFill/>
          <a:ln cap="flat" cmpd="sng" w="25400">
            <a:solidFill>
              <a:schemeClr val="dk1"/>
            </a:solidFill>
            <a:prstDash val="dash"/>
            <a:round/>
            <a:headEnd len="sm" w="sm" type="none"/>
            <a:tailEnd len="sm" w="sm" type="none"/>
          </a:ln>
        </p:spPr>
      </p:cxnSp>
      <p:cxnSp>
        <p:nvCxnSpPr>
          <p:cNvPr id="63" name="Google Shape;63;p1"/>
          <p:cNvCxnSpPr/>
          <p:nvPr/>
        </p:nvCxnSpPr>
        <p:spPr>
          <a:xfrm>
            <a:off x="11783892" y="22944325"/>
            <a:ext cx="9482400" cy="0"/>
          </a:xfrm>
          <a:prstGeom prst="straightConnector1">
            <a:avLst/>
          </a:prstGeom>
          <a:noFill/>
          <a:ln cap="flat" cmpd="sng" w="25400">
            <a:solidFill>
              <a:schemeClr val="dk1"/>
            </a:solidFill>
            <a:prstDash val="dash"/>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search Poster Template">
  <a:themeElements>
    <a:clrScheme name="Custom 2">
      <a:dk1>
        <a:srgbClr val="333333"/>
      </a:dk1>
      <a:lt1>
        <a:srgbClr val="FFFFFF"/>
      </a:lt1>
      <a:dk2>
        <a:srgbClr val="5D0025"/>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2016-09-29T18:43:16Z</dcterms:created>
  <dc:creator>Lagoudas, Magdalini Z</dc:creator>
</cp:coreProperties>
</file>