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W1w8sHApRZAsc4hMy+2weWqg8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219F61-F2FE-4A93-8143-6B9EAF1CFFF9}">
  <a:tblStyle styleId="{0E219F61-F2FE-4A93-8143-6B9EAF1CFFF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116E949-4C88-41BA-B346-7D9FCA5FE18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6" name="Google Shape;7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00d2f94c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7" name="Google Shape;97;g3300d2f94cf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00d2f94cf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300d2f94c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00d2f94c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0" name="Google Shape;110;g3300d2f94cf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00d2f94c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300d2f94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00d2f94cf_3_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00d2f94cf_3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300d2f94cf_3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00d2f94cf_3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00d2f94cf_3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300d2f94cf_3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7" name="Google Shape;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2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1619250" y="38146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36: Mesh Walkie Talkies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/>
              <a:t>Bi-Weekly Update 2</a:t>
            </a:r>
            <a:br>
              <a:rPr lang="en-US"/>
            </a:br>
            <a:r>
              <a:rPr lang="en-US" sz="2455"/>
              <a:t>Cole Cieslewicz, Jaiah Steele, Junsu Yeo</a:t>
            </a:r>
            <a:br>
              <a:rPr lang="en-US" sz="2455"/>
            </a:br>
            <a:r>
              <a:rPr lang="en-US" sz="2455"/>
              <a:t>Sponsor: Giuseppe Rizzi</a:t>
            </a:r>
            <a:br>
              <a:rPr lang="en-US" sz="2455"/>
            </a:br>
            <a:r>
              <a:rPr lang="en-US" sz="2455"/>
              <a:t>TA: Niloofar Borzooei</a:t>
            </a:r>
            <a:endParaRPr sz="2455"/>
          </a:p>
        </p:txBody>
      </p:sp>
      <p:sp>
        <p:nvSpPr>
          <p:cNvPr id="59" name="Google Shape;59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60" name="Google Shape;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sp>
        <p:nvSpPr>
          <p:cNvPr id="66" name="Google Shape;66;p2"/>
          <p:cNvSpPr txBox="1"/>
          <p:nvPr>
            <p:ph idx="1" type="body"/>
          </p:nvPr>
        </p:nvSpPr>
        <p:spPr>
          <a:xfrm>
            <a:off x="457200" y="2049275"/>
            <a:ext cx="49122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Conventional Walkie-Talkies:</a:t>
            </a:r>
            <a:endParaRPr sz="2600"/>
          </a:p>
          <a:p>
            <a:pPr indent="-336550" lvl="1" marL="7429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Require close, limited communication</a:t>
            </a:r>
            <a:endParaRPr sz="2600"/>
          </a:p>
          <a:p>
            <a:pPr indent="-336550" lvl="1" marL="7429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No network advantage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228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Our solution:</a:t>
            </a:r>
            <a:endParaRPr sz="2600"/>
          </a:p>
          <a:p>
            <a:pPr indent="-336550" lvl="1" marL="7429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Mesh network to extend communication range and reliability. </a:t>
            </a:r>
            <a:endParaRPr sz="2600"/>
          </a:p>
        </p:txBody>
      </p:sp>
      <p:pic>
        <p:nvPicPr>
          <p:cNvPr id="67" name="Google Shape;6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9344" y="2264450"/>
            <a:ext cx="3505326" cy="350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0" y="2731325"/>
            <a:ext cx="4242900" cy="19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Arial"/>
              <a:buNone/>
            </a:pPr>
            <a:r>
              <a:rPr lang="en-US"/>
              <a:t>Project/Subsystem Overview </a:t>
            </a:r>
            <a:endParaRPr/>
          </a:p>
        </p:txBody>
      </p:sp>
      <p:pic>
        <p:nvPicPr>
          <p:cNvPr id="73" name="Google Shape;7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950" y="351494"/>
            <a:ext cx="4927800" cy="6257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</a:t>
            </a:r>
            <a:endParaRPr/>
          </a:p>
        </p:txBody>
      </p:sp>
      <p:graphicFrame>
        <p:nvGraphicFramePr>
          <p:cNvPr id="79" name="Google Shape;79;p4"/>
          <p:cNvGraphicFramePr/>
          <p:nvPr/>
        </p:nvGraphicFramePr>
        <p:xfrm>
          <a:off x="230909" y="27869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{0E219F61-F2FE-4A93-8143-6B9EAF1CFFF9}</a:tableStyleId>
              </a:tblPr>
              <a:tblGrid>
                <a:gridCol w="1245350"/>
                <a:gridCol w="1240575"/>
                <a:gridCol w="1242975"/>
                <a:gridCol w="1252525"/>
                <a:gridCol w="1308550"/>
                <a:gridCol w="1182175"/>
                <a:gridCol w="1099200"/>
              </a:tblGrid>
              <a:tr h="138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Subsystem Designs and Testing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(completed </a:t>
                      </a:r>
                      <a:r>
                        <a:rPr lang="en-US" sz="1300"/>
                        <a:t>1/31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Integration of Power System and Launchpad </a:t>
                      </a:r>
                      <a:br>
                        <a:rPr lang="en-US" sz="1300">
                          <a:solidFill>
                            <a:schemeClr val="dk1"/>
                          </a:solidFill>
                        </a:rPr>
                      </a:b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(to complete by 2/26)</a:t>
                      </a:r>
                      <a:endParaRPr sz="13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Integration of mesh network and audio 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(to complete by 3/5)</a:t>
                      </a:r>
                      <a:endParaRPr sz="1300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3D printing walkie talkie case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3/12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Enclosing device and </a:t>
                      </a:r>
                      <a:r>
                        <a:rPr lang="en-US" sz="1300" u="none" cap="none" strike="noStrike"/>
                        <a:t>System Test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4/02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Validation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4/16</a:t>
                      </a:r>
                      <a:r>
                        <a:rPr lang="en-US" sz="1300" u="none" cap="none" strike="noStrike"/>
                        <a:t>)</a:t>
                      </a:r>
                      <a:endParaRPr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Demo and Report </a:t>
                      </a:r>
                      <a:br>
                        <a:rPr lang="en-US" sz="1300" u="none" cap="none" strike="noStrike"/>
                      </a:br>
                      <a:r>
                        <a:rPr lang="en-US" sz="1300" u="none" cap="none" strike="noStrike"/>
                        <a:t>(to complete by </a:t>
                      </a:r>
                      <a:r>
                        <a:rPr lang="en-US" sz="1300"/>
                        <a:t>4/28</a:t>
                      </a:r>
                      <a:r>
                        <a:rPr lang="en-US" sz="1300" u="none" cap="none" strike="noStrike"/>
                        <a:t>)</a:t>
                      </a:r>
                      <a:endParaRPr sz="1300" u="none" cap="none" strike="noStrike"/>
                    </a:p>
                  </a:txBody>
                  <a:tcPr marT="45675" marB="4567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" name="Google Shape;80;p4"/>
          <p:cNvSpPr txBox="1"/>
          <p:nvPr/>
        </p:nvSpPr>
        <p:spPr>
          <a:xfrm>
            <a:off x="230900" y="5305550"/>
            <a:ext cx="50109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Key: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highlight>
                  <a:srgbClr val="00B050"/>
                </a:highlight>
              </a:rPr>
              <a:t>Green = Completed</a:t>
            </a:r>
            <a:endParaRPr sz="1700">
              <a:solidFill>
                <a:schemeClr val="dk1"/>
              </a:solidFill>
              <a:highlight>
                <a:srgbClr val="00B05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highlight>
                  <a:srgbClr val="FFFF00"/>
                </a:highlight>
              </a:rPr>
              <a:t>Yellow = In Progress</a:t>
            </a:r>
            <a:endParaRPr sz="17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White = Have not started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Push-To-Talk/Audio Functionality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Jaiah </a:t>
            </a:r>
            <a:endParaRPr sz="2980"/>
          </a:p>
        </p:txBody>
      </p:sp>
      <p:graphicFrame>
        <p:nvGraphicFramePr>
          <p:cNvPr id="86" name="Google Shape;86;p5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{0E219F61-F2FE-4A93-8143-6B9EAF1CFFF9}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8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302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-US" sz="1600"/>
                        <a:t>Merging RX and TX functionality into a single firmware for both LaunchPads is in progress</a:t>
                      </a:r>
                      <a:endParaRPr sz="1600"/>
                    </a:p>
                    <a:p>
                      <a:pPr indent="-3302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-US" sz="1600"/>
                        <a:t>On-going integration of LCD Push-To-Talk with RF transmission</a:t>
                      </a:r>
                      <a:endParaRPr sz="1600"/>
                    </a:p>
                    <a:p>
                      <a:pPr indent="-3302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-US" sz="1600"/>
                        <a:t>Was able to verify RF transmission with on board GPIO’s (Green ON for transmitting, toggle for idle/default, and red ON for receiving)</a:t>
                      </a:r>
                      <a:endParaRPr sz="1600"/>
                    </a:p>
                    <a:p>
                      <a:pPr indent="-3302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-US" sz="1600"/>
                        <a:t>Debugging unexpected behaviors where messages may not update as expected.</a:t>
                      </a:r>
                      <a:endParaRPr sz="1600"/>
                    </a:p>
                    <a:p>
                      <a:pPr indent="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-US" sz="1600"/>
                        <a:t>Debug LCD timing to ensure accurate status updates during transmission and reception.</a:t>
                      </a:r>
                      <a:endParaRPr sz="1600"/>
                    </a:p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-US" sz="1600"/>
                        <a:t>Verify that packets are properly received and that reception triggers LCD updates.</a:t>
                      </a:r>
                      <a:endParaRPr sz="1600"/>
                    </a:p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-US" sz="1600"/>
                        <a:t>Test in real-time scenarios with both LaunchPads communicating dynamically.</a:t>
                      </a:r>
                      <a:endParaRPr sz="16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>
            <p:ph type="title"/>
          </p:nvPr>
        </p:nvSpPr>
        <p:spPr>
          <a:xfrm>
            <a:off x="609600" y="1201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Push-To-Talk/Audio Functionality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Jaiah</a:t>
            </a:r>
            <a:endParaRPr sz="2980"/>
          </a:p>
        </p:txBody>
      </p:sp>
      <p:sp>
        <p:nvSpPr>
          <p:cNvPr id="92" name="Google Shape;92;p6"/>
          <p:cNvSpPr txBox="1"/>
          <p:nvPr/>
        </p:nvSpPr>
        <p:spPr>
          <a:xfrm>
            <a:off x="158948" y="2069735"/>
            <a:ext cx="49725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Transmission Packets Are Being Sent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When the push-to-talk (PTT) button is pressed, the LaunchPad successfully sends an RF packet.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The transmission function is triggered properly.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Packets contain the necessary information, including sender ID and transmission status.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LCD displays </a:t>
            </a:r>
            <a:r>
              <a:rPr b="1" lang="en-US" sz="1100">
                <a:solidFill>
                  <a:schemeClr val="dk1"/>
                </a:solidFill>
              </a:rPr>
              <a:t>"Transmitting..."</a:t>
            </a:r>
            <a:r>
              <a:rPr lang="en-US" sz="1100">
                <a:solidFill>
                  <a:schemeClr val="dk1"/>
                </a:solidFill>
              </a:rPr>
              <a:t> as expected.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Reception Handling Needs Debugging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The receiving LaunchPad does not always update its LCD when a packet is received.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Reception code executes inconsistently—sometimes packets are detected, other times they are missed.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When reception does work, the LCD should display </a:t>
            </a:r>
            <a:r>
              <a:rPr b="1" lang="en-US" sz="1100">
                <a:solidFill>
                  <a:schemeClr val="dk1"/>
                </a:solidFill>
              </a:rPr>
              <a:t>"Receiving"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Made E2E forum post for challenges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93" name="Google Shape;9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4000" y="1736150"/>
            <a:ext cx="2764375" cy="315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3175" y="4224525"/>
            <a:ext cx="3426026" cy="232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00d2f94cf_0_1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Mesh Connection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Cole Cieslewicz</a:t>
            </a:r>
            <a:endParaRPr sz="2980"/>
          </a:p>
        </p:txBody>
      </p:sp>
      <p:graphicFrame>
        <p:nvGraphicFramePr>
          <p:cNvPr id="100" name="Google Shape;100;g3300d2f94cf_0_12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{0E219F61-F2FE-4A93-8143-6B9EAF1CFFF9}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6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Recoded the part of my program that transitions between Rx and Tx to make it </a:t>
                      </a:r>
                      <a:r>
                        <a:rPr lang="en-US" sz="1800"/>
                        <a:t>function</a:t>
                      </a:r>
                      <a:r>
                        <a:rPr lang="en-US" sz="1800"/>
                        <a:t> w/out resetting device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Begun testing interaction between Launchpad and AudBoost to see how to packetize audio signal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Tested antennas and determined more board manipulation will be necessary to make them work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Assisted Jaiah with his firmware integration for Rx/Tx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Assemble packets of audio small enough for transmission (Jaiah to help)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Replace keyboard input with audio packets/files in Tx firmware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Remove UART </a:t>
                      </a:r>
                      <a:r>
                        <a:rPr lang="en-US" sz="1800"/>
                        <a:t>functionality in order to cut out need for external communication prompting device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00d2f94cf_0_6"/>
          <p:cNvSpPr txBox="1"/>
          <p:nvPr>
            <p:ph idx="1" type="body"/>
          </p:nvPr>
        </p:nvSpPr>
        <p:spPr>
          <a:xfrm>
            <a:off x="284000" y="3268800"/>
            <a:ext cx="4846500" cy="3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/>
              <a:t>Transmission Packets Are Being Sent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When the push-to-talk (PTT) button is pressed, the LaunchPad successfully sends an RF packet.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The transmission function is triggered properly.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Packets contain the necessary information, including sender ID and transmission status.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LCD displays </a:t>
            </a:r>
            <a:r>
              <a:rPr b="1" lang="en-US" sz="1100"/>
              <a:t>"Transmitting..."</a:t>
            </a:r>
            <a:r>
              <a:rPr lang="en-US" sz="1100"/>
              <a:t> as expected.</a:t>
            </a:r>
            <a:endParaRPr sz="1100"/>
          </a:p>
        </p:txBody>
      </p:sp>
      <p:sp>
        <p:nvSpPr>
          <p:cNvPr id="106" name="Google Shape;106;g3300d2f94cf_0_6"/>
          <p:cNvSpPr txBox="1"/>
          <p:nvPr>
            <p:ph type="title"/>
          </p:nvPr>
        </p:nvSpPr>
        <p:spPr>
          <a:xfrm>
            <a:off x="609600" y="1201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Mesh Connection Functionality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Cole Cieslewicz</a:t>
            </a:r>
            <a:endParaRPr sz="2980"/>
          </a:p>
        </p:txBody>
      </p:sp>
      <p:pic>
        <p:nvPicPr>
          <p:cNvPr id="107" name="Google Shape;107;g3300d2f94cf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8248" y="2124327"/>
            <a:ext cx="3410942" cy="4547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00d2f94cf_0_1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Junsu Yeo</a:t>
            </a:r>
            <a:endParaRPr sz="2980"/>
          </a:p>
        </p:txBody>
      </p:sp>
      <p:graphicFrame>
        <p:nvGraphicFramePr>
          <p:cNvPr id="113" name="Google Shape;113;g3300d2f94cf_0_18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{0E219F61-F2FE-4A93-8143-6B9EAF1CFFF9}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8 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New PCB and Components arrived. 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Completed assembly of new PCB. 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Tested the output voltage of the converters is 5V and 3.3V.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The new PCB successfully powered the launchpad. 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Finish design of final PCB adding a 20 pin board to board connector and the battery charger.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00d2f94cf_0_0"/>
          <p:cNvSpPr txBox="1"/>
          <p:nvPr>
            <p:ph type="title"/>
          </p:nvPr>
        </p:nvSpPr>
        <p:spPr>
          <a:xfrm>
            <a:off x="599250" y="8702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Junsu Yeo</a:t>
            </a:r>
            <a:endParaRPr sz="2980"/>
          </a:p>
        </p:txBody>
      </p:sp>
      <p:sp>
        <p:nvSpPr>
          <p:cNvPr id="119" name="Google Shape;119;g3300d2f94cf_0_0"/>
          <p:cNvSpPr txBox="1"/>
          <p:nvPr/>
        </p:nvSpPr>
        <p:spPr>
          <a:xfrm>
            <a:off x="1927123" y="3382297"/>
            <a:ext cx="497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g3300d2f94c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25" y="2005275"/>
            <a:ext cx="3417750" cy="475189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g3300d2f94cf_0_0"/>
          <p:cNvGraphicFramePr/>
          <p:nvPr/>
        </p:nvGraphicFramePr>
        <p:xfrm>
          <a:off x="3841050" y="1911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{1116E949-4C88-41BA-B346-7D9FCA5FE18C}</a:tableStyleId>
              </a:tblPr>
              <a:tblGrid>
                <a:gridCol w="2064450"/>
                <a:gridCol w="1464000"/>
                <a:gridCol w="1577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Components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Expected Output [V]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Measured Output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[V]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MIC2288Yd5-TR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TPS79601DRBR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3.2951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TPS79633DCQR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3.3112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AP7366-33W5-7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3.3101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AP7362-33SP-13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3.2643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MIC2288Yd5-TR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LDL1117S50R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4.9844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MIC2288Yd5-TR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MCP1826S-5002E/DB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4.9671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MIC2288Yd5-TR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LM1117MPX-5.0/NOPB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2.5250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MIC2288Yd5-TR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NCP1117ST50T3G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4.9887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00d2f94cf_3_1"/>
          <p:cNvSpPr txBox="1"/>
          <p:nvPr>
            <p:ph type="title"/>
          </p:nvPr>
        </p:nvSpPr>
        <p:spPr>
          <a:xfrm>
            <a:off x="609600" y="1201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Junsu Yeo</a:t>
            </a:r>
            <a:endParaRPr sz="2980"/>
          </a:p>
        </p:txBody>
      </p:sp>
      <p:pic>
        <p:nvPicPr>
          <p:cNvPr id="128" name="Google Shape;128;g3300d2f94cf_3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0188" y="2540026"/>
            <a:ext cx="5828424" cy="334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3438950" y="0"/>
            <a:ext cx="59307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134" name="Google Shape;13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6100"/>
            <a:ext cx="8839204" cy="5420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00d2f94cf_3_12"/>
          <p:cNvSpPr txBox="1"/>
          <p:nvPr>
            <p:ph type="title"/>
          </p:nvPr>
        </p:nvSpPr>
        <p:spPr>
          <a:xfrm>
            <a:off x="2351875" y="2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Validation Table</a:t>
            </a:r>
            <a:endParaRPr/>
          </a:p>
        </p:txBody>
      </p:sp>
      <p:pic>
        <p:nvPicPr>
          <p:cNvPr id="141" name="Google Shape;141;g3300d2f94cf_3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6102"/>
            <a:ext cx="8839200" cy="5645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idx="1" type="body"/>
          </p:nvPr>
        </p:nvSpPr>
        <p:spPr>
          <a:xfrm>
            <a:off x="457200" y="1608545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Thank you!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