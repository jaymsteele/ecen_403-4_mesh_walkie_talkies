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gg6UgnukqYic3ZDKYRwf3Aq9rC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7E3B2F-011E-4F80-9180-5411BB3D88D3}">
  <a:tblStyle styleId="{D77E3B2F-011E-4F80-9180-5411BB3D88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7C0F469-56A1-4B1D-A282-79C6D6DB7BC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50D33BD-EA4D-4D25-A067-4C7DB7DD9E81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9E6E6"/>
          </a:solidFill>
        </a:fill>
      </a:tcStyle>
    </a:wholeTbl>
    <a:band1H>
      <a:tcTxStyle/>
      <a:tcStyle>
        <a:fill>
          <a:solidFill>
            <a:srgbClr val="F2CACA"/>
          </a:solidFill>
        </a:fill>
      </a:tcStyle>
    </a:band1H>
    <a:band2H>
      <a:tcTxStyle/>
    </a:band2H>
    <a:band1V>
      <a:tcTxStyle/>
      <a:tcStyle>
        <a:fill>
          <a:solidFill>
            <a:srgbClr val="F2CAC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DE0000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DE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DE0000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DE0000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aac2de0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3" name="Google Shape;63;g34aac2de052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aac2de052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4aac2de052_0_5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a250d728b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4a250d728b_2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a250d728b_2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4a250d728b_2_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a250d728b_2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4a250d728b_2_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a250d728b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4a250d728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4a250d728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a250d728b_0_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4a250d728b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4a250d728b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aac2de052_0_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aac2de052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4aac2de052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aac2de052_0_8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aac2de052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4aac2de052_0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aac2de052_0_6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aac2de052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4aac2de052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a250d728b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4a250d728b_1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a250d728b_2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4a250d728b_2_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4a250d728b_1_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4a250d728b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4a250d728b_1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a250d728b_1_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4a250d728b_1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4a250d728b_1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1" name="Google Shape;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1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4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>
            <p:ph type="ctrTitle"/>
          </p:nvPr>
        </p:nvSpPr>
        <p:spPr>
          <a:xfrm>
            <a:off x="1619250" y="4244975"/>
            <a:ext cx="7302500" cy="160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/>
              <a:t>ECEN 404 Final Presentation</a:t>
            </a:r>
            <a:br>
              <a:rPr lang="en-US"/>
            </a:br>
            <a:r>
              <a:rPr lang="en-US"/>
              <a:t>Team 36 Mesh Walkie Talkies</a:t>
            </a:r>
            <a:br>
              <a:rPr lang="en-US"/>
            </a:br>
            <a:r>
              <a:rPr lang="en-US"/>
              <a:t>Cole Cieslewicz, Jaiah Steele, Junsu Yeo</a:t>
            </a:r>
            <a:br>
              <a:rPr lang="en-US"/>
            </a:br>
            <a:r>
              <a:rPr lang="en-US"/>
              <a:t>TA: Niloofar Borzooei</a:t>
            </a:r>
            <a:br>
              <a:rPr lang="en-US"/>
            </a:br>
            <a:r>
              <a:rPr lang="en-US"/>
              <a:t>Sponsor: Giuseppe Rizzi</a:t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60" name="Google Shape;6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4aac2de052_0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Problem Overview</a:t>
            </a:r>
            <a:endParaRPr/>
          </a:p>
        </p:txBody>
      </p:sp>
      <p:sp>
        <p:nvSpPr>
          <p:cNvPr id="66" name="Google Shape;66;g34aac2de052_0_0"/>
          <p:cNvSpPr txBox="1"/>
          <p:nvPr>
            <p:ph idx="1" type="body"/>
          </p:nvPr>
        </p:nvSpPr>
        <p:spPr>
          <a:xfrm>
            <a:off x="457200" y="2049275"/>
            <a:ext cx="45321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Conventional Walkie-Talkies:</a:t>
            </a:r>
            <a:endParaRPr sz="1800"/>
          </a:p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Require close, limited range of communication.</a:t>
            </a:r>
            <a:endParaRPr sz="1800"/>
          </a:p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RF can be blocked by obstruction, weather, curvature of the earth etc.</a:t>
            </a:r>
            <a:endParaRPr sz="1800"/>
          </a:p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No network advantage.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Our solution:</a:t>
            </a:r>
            <a:endParaRPr sz="1800"/>
          </a:p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Mesh network to extend communication range and reliability. </a:t>
            </a:r>
            <a:endParaRPr sz="1800"/>
          </a:p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Uses include: construction, search and </a:t>
            </a:r>
            <a:r>
              <a:rPr lang="en-US" sz="1800"/>
              <a:t>rescue</a:t>
            </a:r>
            <a:r>
              <a:rPr lang="en-US" sz="1800"/>
              <a:t> scenarios, altitude differences, high </a:t>
            </a:r>
            <a:r>
              <a:rPr lang="en-US" sz="1800"/>
              <a:t>obstruction</a:t>
            </a:r>
            <a:r>
              <a:rPr lang="en-US" sz="1800"/>
              <a:t> environments. </a:t>
            </a:r>
            <a:endParaRPr sz="1800"/>
          </a:p>
        </p:txBody>
      </p:sp>
      <p:pic>
        <p:nvPicPr>
          <p:cNvPr id="67" name="Google Shape;67;g34aac2de05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9344" y="2264450"/>
            <a:ext cx="3505326" cy="350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aac2de052_0_5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Integrated Project Diagram</a:t>
            </a:r>
            <a:endParaRPr/>
          </a:p>
        </p:txBody>
      </p:sp>
      <p:pic>
        <p:nvPicPr>
          <p:cNvPr id="73" name="Google Shape;73;g34aac2de052_0_51" title="IMG_413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350" y="1897663"/>
            <a:ext cx="1987476" cy="401809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g34aac2de052_0_51"/>
          <p:cNvSpPr txBox="1"/>
          <p:nvPr/>
        </p:nvSpPr>
        <p:spPr>
          <a:xfrm>
            <a:off x="547475" y="6061500"/>
            <a:ext cx="18972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LCD Display for real time updates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" name="Google Shape;75;g34aac2de052_0_51"/>
          <p:cNvSpPr txBox="1"/>
          <p:nvPr/>
        </p:nvSpPr>
        <p:spPr>
          <a:xfrm>
            <a:off x="6918350" y="1852875"/>
            <a:ext cx="1897200" cy="4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Microphone for audio input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Button press to speak and transmit audio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Slide switch to turn on and off device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Speaker for audio output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" name="Google Shape;76;g34aac2de052_0_51"/>
          <p:cNvSpPr txBox="1"/>
          <p:nvPr/>
        </p:nvSpPr>
        <p:spPr>
          <a:xfrm>
            <a:off x="5192225" y="6003150"/>
            <a:ext cx="17574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USBC port to charge LiPo battery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7" name="Google Shape;77;g34aac2de052_0_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0151" y="1897675"/>
            <a:ext cx="4358738" cy="4018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a250d728b_2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Engineering Design Accomplishments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596"/>
              <a:buFont typeface="Arial"/>
              <a:buNone/>
            </a:pPr>
            <a:r>
              <a:rPr lang="en-US" sz="2311"/>
              <a:t>Jaiah Steele </a:t>
            </a:r>
            <a:endParaRPr/>
          </a:p>
        </p:txBody>
      </p:sp>
      <p:sp>
        <p:nvSpPr>
          <p:cNvPr id="83" name="Google Shape;83;g34a250d728b_2_0"/>
          <p:cNvSpPr txBox="1"/>
          <p:nvPr>
            <p:ph idx="1" type="body"/>
          </p:nvPr>
        </p:nvSpPr>
        <p:spPr>
          <a:xfrm>
            <a:off x="457200" y="1852872"/>
            <a:ext cx="82296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/>
              <a:t>Slide 1: Push-To-Talk &amp; LCD Interface Design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Designed </a:t>
            </a:r>
            <a:r>
              <a:rPr b="1" lang="en-US" sz="1600"/>
              <a:t>push-to-talk system</a:t>
            </a:r>
            <a:r>
              <a:rPr lang="en-US" sz="1600"/>
              <a:t> using GPIO interrupt on CC1354P10.</a:t>
            </a:r>
            <a:br>
              <a:rPr lang="en-US" sz="1600"/>
            </a:b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Wrote </a:t>
            </a:r>
            <a:r>
              <a:rPr b="1" lang="en-US" sz="1600"/>
              <a:t>C LCD source (lcd.c) and header (lcd.h)</a:t>
            </a:r>
            <a:r>
              <a:rPr lang="en-US" sz="1600"/>
              <a:t> for I2C 1602 display (converted to C from python).</a:t>
            </a:r>
            <a:br>
              <a:rPr lang="en-US" sz="1600"/>
            </a:b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LCD dynamically updates based on system state:</a:t>
            </a:r>
            <a:br>
              <a:rPr lang="en-US" sz="1600"/>
            </a:br>
            <a:endParaRPr sz="1600"/>
          </a:p>
          <a:p>
            <a:pPr indent="-31496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-US" sz="1600"/>
              <a:t>“</a:t>
            </a:r>
            <a:r>
              <a:rPr b="1" lang="en-US" sz="1600"/>
              <a:t>Transmitting W#</a:t>
            </a:r>
            <a:r>
              <a:rPr lang="en-US" sz="1600"/>
              <a:t>” when PTT is pressed.</a:t>
            </a:r>
            <a:br>
              <a:rPr lang="en-US" sz="1600"/>
            </a:br>
            <a:endParaRPr sz="1600"/>
          </a:p>
          <a:p>
            <a:pPr indent="-31496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1600"/>
              <a:t>“</a:t>
            </a:r>
            <a:r>
              <a:rPr b="1" lang="en-US" sz="1600"/>
              <a:t>Receiving W#</a:t>
            </a:r>
            <a:r>
              <a:rPr lang="en-US" sz="1600"/>
              <a:t>” on incoming packet.</a:t>
            </a:r>
            <a:br>
              <a:rPr lang="en-US" sz="1600"/>
            </a:br>
            <a:endParaRPr sz="1600"/>
          </a:p>
          <a:p>
            <a:pPr indent="-31496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1600"/>
              <a:t>“</a:t>
            </a:r>
            <a:r>
              <a:rPr b="1" lang="en-US" sz="1600"/>
              <a:t>Push To Talk: W#</a:t>
            </a:r>
            <a:r>
              <a:rPr lang="en-US" sz="1600"/>
              <a:t>” when idle.</a:t>
            </a:r>
            <a:br>
              <a:rPr lang="en-US" sz="1600"/>
            </a:b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LCD functions are integrated with transmit/receive logic.</a:t>
            </a:r>
            <a:br>
              <a:rPr lang="en-US" sz="1600"/>
            </a:b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Seamless coordination between </a:t>
            </a:r>
            <a:r>
              <a:rPr b="1" lang="en-US" sz="1600"/>
              <a:t>GPIO events</a:t>
            </a:r>
            <a:r>
              <a:rPr lang="en-US" sz="1600"/>
              <a:t>, </a:t>
            </a:r>
            <a:r>
              <a:rPr b="1" lang="en-US" sz="1600"/>
              <a:t>RF packets</a:t>
            </a:r>
            <a:r>
              <a:rPr lang="en-US" sz="1600"/>
              <a:t>, and </a:t>
            </a:r>
            <a:r>
              <a:rPr b="1" lang="en-US" sz="1600"/>
              <a:t>LCD updates</a:t>
            </a:r>
            <a:r>
              <a:rPr lang="en-US" sz="1600"/>
              <a:t>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a250d728b_2_6"/>
          <p:cNvSpPr txBox="1"/>
          <p:nvPr>
            <p:ph idx="1" type="body"/>
          </p:nvPr>
        </p:nvSpPr>
        <p:spPr>
          <a:xfrm>
            <a:off x="381000" y="1899897"/>
            <a:ext cx="82296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400"/>
              <a:t>Slide 2: Audio Processing &amp; RF Communication Integration</a:t>
            </a:r>
            <a:endParaRPr b="1"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Compressed </a:t>
            </a:r>
            <a:r>
              <a:rPr b="1" lang="en-US" sz="1400"/>
              <a:t>16-bit I2S microphone input</a:t>
            </a:r>
            <a:r>
              <a:rPr lang="en-US" sz="1400"/>
              <a:t> to </a:t>
            </a:r>
            <a:r>
              <a:rPr b="1" lang="en-US" sz="1400"/>
              <a:t>8-bit PCM</a:t>
            </a:r>
            <a:r>
              <a:rPr lang="en-US" sz="1400"/>
              <a:t> at </a:t>
            </a:r>
            <a:r>
              <a:rPr b="1" lang="en-US" sz="1400"/>
              <a:t>8kHz sampling rate</a:t>
            </a:r>
            <a:r>
              <a:rPr lang="en-US" sz="1400"/>
              <a:t>.</a:t>
            </a:r>
            <a:br>
              <a:rPr lang="en-US" sz="1400"/>
            </a:b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Switched from </a:t>
            </a:r>
            <a:r>
              <a:rPr b="1" lang="en-US" sz="1400"/>
              <a:t>Wi-SUN to TI Proprietary Mesh</a:t>
            </a:r>
            <a:r>
              <a:rPr lang="en-US" sz="1400"/>
              <a:t> for lower latency and better control.</a:t>
            </a:r>
            <a:br>
              <a:rPr lang="en-US" sz="1400"/>
            </a:b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Merged </a:t>
            </a:r>
            <a:r>
              <a:rPr b="1" lang="en-US" sz="1400"/>
              <a:t>RFechoRX</a:t>
            </a:r>
            <a:r>
              <a:rPr lang="en-US" sz="1400"/>
              <a:t> and </a:t>
            </a:r>
            <a:r>
              <a:rPr b="1" lang="en-US" sz="1400"/>
              <a:t>RFechoTX</a:t>
            </a:r>
            <a:r>
              <a:rPr lang="en-US" sz="1400"/>
              <a:t> into </a:t>
            </a:r>
            <a:r>
              <a:rPr b="1" lang="en-US" sz="1400"/>
              <a:t>one unified PTT-driven walkie-talkie program</a:t>
            </a:r>
            <a:r>
              <a:rPr lang="en-US" sz="1400"/>
              <a:t>.</a:t>
            </a:r>
            <a:br>
              <a:rPr lang="en-US" sz="1400"/>
            </a:b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/>
              <a:t>Echo-based relay function</a:t>
            </a:r>
            <a:r>
              <a:rPr lang="en-US" sz="1400"/>
              <a:t> using memcpy() to rebroadcast packets, with W</a:t>
            </a:r>
            <a:r>
              <a:rPr lang="en-US" sz="1400"/>
              <a:t>alkie-Identifiers allow users to speak simultaneously (pseudo full-duplex).</a:t>
            </a:r>
            <a:br>
              <a:rPr lang="en-US" sz="1400"/>
            </a:b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Transmitting </a:t>
            </a:r>
            <a:r>
              <a:rPr b="1" lang="en-US" sz="1400"/>
              <a:t>255-byte packets every 41ms</a:t>
            </a:r>
            <a:r>
              <a:rPr lang="en-US" sz="1400"/>
              <a:t> using </a:t>
            </a:r>
            <a:r>
              <a:rPr b="1" lang="en-US" sz="1400"/>
              <a:t>50kbps Sub-1 GHz PHY</a:t>
            </a:r>
            <a:r>
              <a:rPr lang="en-US" sz="1400"/>
              <a:t>.</a:t>
            </a:r>
            <a:br>
              <a:rPr lang="en-US" sz="1400"/>
            </a:b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400"/>
              <a:t>Current status:</a:t>
            </a:r>
            <a:r>
              <a:rPr lang="en-US" sz="1400"/>
              <a:t> Tones audible through mesh, but </a:t>
            </a:r>
            <a:r>
              <a:rPr b="1" lang="en-US" sz="1400"/>
              <a:t>speech remains unintelligible</a:t>
            </a:r>
            <a:r>
              <a:rPr lang="en-US" sz="1400"/>
              <a:t> — working on </a:t>
            </a:r>
            <a:r>
              <a:rPr b="1" lang="en-US" sz="1400"/>
              <a:t>filters, smoothing, and improved compression</a:t>
            </a:r>
            <a:r>
              <a:rPr lang="en-US" sz="1400"/>
              <a:t>.</a:t>
            </a:r>
            <a:endParaRPr sz="1400"/>
          </a:p>
        </p:txBody>
      </p:sp>
      <p:sp>
        <p:nvSpPr>
          <p:cNvPr id="89" name="Google Shape;89;g34a250d728b_2_6"/>
          <p:cNvSpPr txBox="1"/>
          <p:nvPr/>
        </p:nvSpPr>
        <p:spPr>
          <a:xfrm>
            <a:off x="886200" y="920700"/>
            <a:ext cx="77244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chemeClr val="dk1"/>
                </a:solidFill>
              </a:rPr>
              <a:t>Engineering Design Accomplishments</a:t>
            </a:r>
            <a:endParaRPr b="1" sz="28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chemeClr val="dk1"/>
                </a:solidFill>
              </a:rPr>
              <a:t>Jaiah Steele </a:t>
            </a:r>
            <a:endParaRPr sz="2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a250d728b_2_36"/>
          <p:cNvSpPr txBox="1"/>
          <p:nvPr/>
        </p:nvSpPr>
        <p:spPr>
          <a:xfrm>
            <a:off x="886200" y="920700"/>
            <a:ext cx="77244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chemeClr val="dk1"/>
                </a:solidFill>
              </a:rPr>
              <a:t>Engineering Design Accomplishments</a:t>
            </a:r>
            <a:endParaRPr b="1" sz="28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chemeClr val="dk1"/>
                </a:solidFill>
              </a:rPr>
              <a:t>Jaiah Steele </a:t>
            </a:r>
            <a:endParaRPr sz="2050"/>
          </a:p>
        </p:txBody>
      </p:sp>
      <p:graphicFrame>
        <p:nvGraphicFramePr>
          <p:cNvPr id="95" name="Google Shape;95;g34a250d728b_2_36"/>
          <p:cNvGraphicFramePr/>
          <p:nvPr/>
        </p:nvGraphicFramePr>
        <p:xfrm>
          <a:off x="9525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{D77E3B2F-011E-4F80-9180-5411BB3D88D3}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Test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Result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RF Range per Node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~150m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Mesh Hop Count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Tested with 3 walkies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Sampling Rate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8KHz tested and verified locally (local launchpad microphone to speaker pipeline no RF)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LCD </a:t>
                      </a:r>
                      <a:r>
                        <a:rPr lang="en-US"/>
                        <a:t>real time</a:t>
                      </a:r>
                      <a:r>
                        <a:rPr lang="en-US"/>
                        <a:t> feedback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Tx/Rx status real time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Voice Quality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Currently unintelligible working to improve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Obstruction testing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Walkies work through obstruction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a250d728b_0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Engineering Design Accomplishments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11"/>
              <a:t>Cole Cieslewicz</a:t>
            </a:r>
            <a:endParaRPr sz="2311"/>
          </a:p>
        </p:txBody>
      </p:sp>
      <p:sp>
        <p:nvSpPr>
          <p:cNvPr id="102" name="Google Shape;102;g34a250d728b_0_0"/>
          <p:cNvSpPr txBox="1"/>
          <p:nvPr>
            <p:ph idx="1" type="body"/>
          </p:nvPr>
        </p:nvSpPr>
        <p:spPr>
          <a:xfrm>
            <a:off x="457375" y="2049275"/>
            <a:ext cx="8229600" cy="446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/>
              <a:t>Enabled </a:t>
            </a:r>
            <a:r>
              <a:rPr b="1" lang="en-US" sz="1400"/>
              <a:t>bidirectional communication</a:t>
            </a:r>
            <a:r>
              <a:rPr lang="en-US" sz="1400"/>
              <a:t> with send and receive functionalities, including </a:t>
            </a:r>
            <a:r>
              <a:rPr b="1" lang="en-US" sz="1400"/>
              <a:t>persistent receive </a:t>
            </a:r>
            <a:r>
              <a:rPr lang="en-US" sz="1400"/>
              <a:t>(</a:t>
            </a:r>
            <a:r>
              <a:rPr lang="en-US" sz="1400"/>
              <a:t>within rfEchoTx.c and rfEchoRx.c).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/>
              <a:t>Enabled backup </a:t>
            </a:r>
            <a:r>
              <a:rPr b="1" lang="en-US" sz="1400"/>
              <a:t>text input and output</a:t>
            </a:r>
            <a:r>
              <a:rPr lang="en-US" sz="1400"/>
              <a:t> via UART (within rfEchoTx.c and rfEchoRx.c).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/>
              <a:t>Validated </a:t>
            </a:r>
            <a:r>
              <a:rPr b="1" lang="en-US" sz="1400"/>
              <a:t>latency near zero</a:t>
            </a:r>
            <a:r>
              <a:rPr lang="en-US" sz="1400"/>
              <a:t> and consistent </a:t>
            </a:r>
            <a:r>
              <a:rPr lang="en-US" sz="1400"/>
              <a:t>function across large distances.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/>
              <a:t>Enabled pathway for audio integration with general </a:t>
            </a:r>
            <a:r>
              <a:rPr b="1" lang="en-US" sz="1400"/>
              <a:t>GPIO compatibility.</a:t>
            </a:r>
            <a:endParaRPr b="1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a250d728b_0_7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Engineering Design Accomplishments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11"/>
              <a:t>Cole Cieslewicz</a:t>
            </a:r>
            <a:endParaRPr sz="2311"/>
          </a:p>
        </p:txBody>
      </p:sp>
      <p:sp>
        <p:nvSpPr>
          <p:cNvPr id="109" name="Google Shape;109;g34a250d728b_0_7"/>
          <p:cNvSpPr txBox="1"/>
          <p:nvPr>
            <p:ph idx="1" type="body"/>
          </p:nvPr>
        </p:nvSpPr>
        <p:spPr>
          <a:xfrm>
            <a:off x="457375" y="1957100"/>
            <a:ext cx="8229600" cy="4608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400"/>
              <a:t>Simplified mode-switching (Tx-Rx) code</a:t>
            </a:r>
            <a:r>
              <a:rPr lang="en-US" sz="1400"/>
              <a:t> to reduce in-between processing bottlenecks.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/>
              <a:t>Implemented a variety of </a:t>
            </a:r>
            <a:r>
              <a:rPr b="1" lang="en-US" sz="1400"/>
              <a:t>audio codecs</a:t>
            </a:r>
            <a:r>
              <a:rPr lang="en-US" sz="1400"/>
              <a:t> to most efficiently </a:t>
            </a:r>
            <a:r>
              <a:rPr b="1" lang="en-US" sz="1400"/>
              <a:t>compress and decompress audio.</a:t>
            </a:r>
            <a:endParaRPr b="1"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/>
              <a:t>Changed configuration settings to </a:t>
            </a:r>
            <a:r>
              <a:rPr b="1" lang="en-US" sz="1400"/>
              <a:t>prioritize data </a:t>
            </a:r>
            <a:r>
              <a:rPr lang="en-US" sz="1400"/>
              <a:t>over distance</a:t>
            </a:r>
            <a:r>
              <a:rPr b="1" lang="en-US" sz="1400"/>
              <a:t> </a:t>
            </a:r>
            <a:r>
              <a:rPr lang="en-US" sz="1400"/>
              <a:t>(including </a:t>
            </a:r>
            <a:r>
              <a:rPr b="1" lang="en-US" sz="1400"/>
              <a:t>shift to 915 Mhz</a:t>
            </a:r>
            <a:r>
              <a:rPr lang="en-US" sz="1400"/>
              <a:t>).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/>
              <a:t>Used </a:t>
            </a:r>
            <a:r>
              <a:rPr b="1" lang="en-US" sz="1400"/>
              <a:t>ADPCM </a:t>
            </a:r>
            <a:r>
              <a:rPr lang="en-US" sz="1400"/>
              <a:t>(Adaptive Differential Pulse Code Modulation) to </a:t>
            </a:r>
            <a:r>
              <a:rPr b="1" lang="en-US" sz="1400"/>
              <a:t>transmit packets</a:t>
            </a:r>
            <a:r>
              <a:rPr lang="en-US" sz="1400"/>
              <a:t> of non-audio data pre-limited in its size (adpcm-lib.c and adpcm-test.c).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/>
              <a:t>Integrating each of the various programs to enable </a:t>
            </a:r>
            <a:r>
              <a:rPr b="1" lang="en-US" sz="1400"/>
              <a:t>audio processing in the main program.</a:t>
            </a:r>
            <a:endParaRPr b="1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aac2de052_0_6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Engineering Design Accomplishments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11"/>
              <a:t>Junsu Yeo</a:t>
            </a:r>
            <a:endParaRPr sz="2311"/>
          </a:p>
        </p:txBody>
      </p:sp>
      <p:sp>
        <p:nvSpPr>
          <p:cNvPr id="116" name="Google Shape;116;g34aac2de052_0_62"/>
          <p:cNvSpPr txBox="1"/>
          <p:nvPr>
            <p:ph idx="1" type="body"/>
          </p:nvPr>
        </p:nvSpPr>
        <p:spPr>
          <a:xfrm>
            <a:off x="4456375" y="2049275"/>
            <a:ext cx="4230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/>
              <a:t>Designed, assembled, and tested 4 power supply PCBs. 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/>
              <a:t>Powered by </a:t>
            </a:r>
            <a:r>
              <a:rPr b="1" lang="en-US" sz="1400"/>
              <a:t>3.7V 2500mAh battery</a:t>
            </a:r>
            <a:r>
              <a:rPr lang="en-US" sz="1400"/>
              <a:t>.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/>
              <a:t>LDO to drop the </a:t>
            </a:r>
            <a:r>
              <a:rPr b="1" lang="en-US" sz="1400"/>
              <a:t>3.7V to 3.3V</a:t>
            </a:r>
            <a:r>
              <a:rPr lang="en-US" sz="1400"/>
              <a:t>. 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/>
              <a:t>Boost converter and LDO to boost and step up the voltage to </a:t>
            </a:r>
            <a:r>
              <a:rPr b="1" lang="en-US" sz="1400"/>
              <a:t>5.0V</a:t>
            </a:r>
            <a:r>
              <a:rPr lang="en-US" sz="1400"/>
              <a:t>. 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/>
              <a:t>Battery charger IC that provides charging current of </a:t>
            </a:r>
            <a:r>
              <a:rPr b="1" lang="en-US" sz="1400"/>
              <a:t>1250mA</a:t>
            </a:r>
            <a:r>
              <a:rPr lang="en-US" sz="1400"/>
              <a:t> through the </a:t>
            </a:r>
            <a:r>
              <a:rPr b="1" lang="en-US" sz="1400"/>
              <a:t>USBC port</a:t>
            </a:r>
            <a:r>
              <a:rPr lang="en-US" sz="1400"/>
              <a:t>.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/>
              <a:t>Battery protection IC protecting the battery from </a:t>
            </a:r>
            <a:r>
              <a:rPr b="1" lang="en-US" sz="1400"/>
              <a:t>2.8V to 4.2V</a:t>
            </a:r>
            <a:r>
              <a:rPr lang="en-US" sz="1400"/>
              <a:t>.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/>
              <a:t>DPDT power switch. 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17" name="Google Shape;117;g34aac2de052_0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25" y="1995425"/>
            <a:ext cx="3933663" cy="40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aac2de052_0_82"/>
          <p:cNvSpPr txBox="1"/>
          <p:nvPr>
            <p:ph type="title"/>
          </p:nvPr>
        </p:nvSpPr>
        <p:spPr>
          <a:xfrm>
            <a:off x="4896325" y="0"/>
            <a:ext cx="35367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11"/>
              <a:t>Junsu Yeo</a:t>
            </a:r>
            <a:endParaRPr sz="2311"/>
          </a:p>
        </p:txBody>
      </p:sp>
      <p:graphicFrame>
        <p:nvGraphicFramePr>
          <p:cNvPr id="124" name="Google Shape;124;g34aac2de052_0_82"/>
          <p:cNvGraphicFramePr/>
          <p:nvPr/>
        </p:nvGraphicFramePr>
        <p:xfrm>
          <a:off x="3139450" y="1688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{67C0F469-56A1-4B1D-A282-79C6D6DB7BCF}</a:tableStyleId>
              </a:tblPr>
              <a:tblGrid>
                <a:gridCol w="1171700"/>
                <a:gridCol w="1693400"/>
              </a:tblGrid>
              <a:tr h="2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Load [mA]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Output Voltage [V]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 → R</a:t>
                      </a:r>
                      <a:r>
                        <a:rPr baseline="-25000" lang="en-US" sz="1100"/>
                        <a:t>L</a:t>
                      </a:r>
                      <a:r>
                        <a:rPr lang="en-US" sz="1100"/>
                        <a:t> = 0Ω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3.3147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40 → R</a:t>
                      </a:r>
                      <a:r>
                        <a:rPr baseline="-25000" lang="en-US" sz="1100"/>
                        <a:t>L</a:t>
                      </a:r>
                      <a:r>
                        <a:rPr lang="en-US" sz="1100"/>
                        <a:t> = 100</a:t>
                      </a: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Ω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3.2942 (Pk-Pk: 175mV)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50 → R</a:t>
                      </a:r>
                      <a:r>
                        <a:rPr baseline="-25000" lang="en-US" sz="1100"/>
                        <a:t>L</a:t>
                      </a:r>
                      <a:r>
                        <a:rPr lang="en-US" sz="1100"/>
                        <a:t> = 64</a:t>
                      </a: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Ω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3.2405 (Pk-Pk: 175mV)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81 → R</a:t>
                      </a:r>
                      <a:r>
                        <a:rPr baseline="-25000" lang="en-US" sz="1100"/>
                        <a:t>L</a:t>
                      </a:r>
                      <a:r>
                        <a:rPr lang="en-US" sz="1100"/>
                        <a:t> = 44</a:t>
                      </a: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Ω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3.2534 (Pk-Pk: 150mV)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96 → R</a:t>
                      </a:r>
                      <a:r>
                        <a:rPr baseline="-25000" lang="en-US" sz="1100"/>
                        <a:t>L</a:t>
                      </a:r>
                      <a:r>
                        <a:rPr lang="en-US" sz="1100"/>
                        <a:t> = 33</a:t>
                      </a: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Ω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3.2501 (Pk-Pk: 175mV)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150 → R</a:t>
                      </a:r>
                      <a:r>
                        <a:rPr baseline="-25000" lang="en-US" sz="1100"/>
                        <a:t>L</a:t>
                      </a:r>
                      <a:r>
                        <a:rPr lang="en-US" sz="1100"/>
                        <a:t> = 22</a:t>
                      </a: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Ω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3.2181 (Pk-Pk: 200mV)</a:t>
                      </a:r>
                      <a:endParaRPr sz="11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graphicFrame>
        <p:nvGraphicFramePr>
          <p:cNvPr id="125" name="Google Shape;125;g34aac2de052_0_82"/>
          <p:cNvGraphicFramePr/>
          <p:nvPr/>
        </p:nvGraphicFramePr>
        <p:xfrm>
          <a:off x="93050" y="144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{67C0F469-56A1-4B1D-A282-79C6D6DB7BCF}</a:tableStyleId>
              </a:tblPr>
              <a:tblGrid>
                <a:gridCol w="736425"/>
                <a:gridCol w="828075"/>
                <a:gridCol w="946250"/>
              </a:tblGrid>
              <a:tr h="2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Input Voltage [V]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5V V</a:t>
                      </a:r>
                      <a:r>
                        <a:rPr baseline="-25000" lang="en-US" sz="1100"/>
                        <a:t>OUT</a:t>
                      </a:r>
                      <a:r>
                        <a:rPr lang="en-US" sz="1100"/>
                        <a:t> [V]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3.3V V</a:t>
                      </a:r>
                      <a:r>
                        <a:rPr baseline="-25000" lang="en-US" sz="1100"/>
                        <a:t>OUT</a:t>
                      </a:r>
                      <a:r>
                        <a:rPr lang="en-US" sz="1100"/>
                        <a:t> [V]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4.9847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2.9986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3.1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4.9948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3.0980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3.2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4.9847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3.1986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3.3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4.9845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3.2982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3.4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4.9845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3.3048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3.5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4.9846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3.3048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3.6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4.9845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3.3048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3.7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4.9848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3.3048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3.8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4.9846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3.3048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3.9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4.9842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3.3049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4.9843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3.3053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4.1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4.9846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3.3053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4.2</a:t>
                      </a:r>
                      <a:endParaRPr sz="1100"/>
                    </a:p>
                  </a:txBody>
                  <a:tcPr marT="63500" marB="63500" marR="63500" marL="635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4.9846</a:t>
                      </a:r>
                      <a:endParaRPr sz="1100"/>
                    </a:p>
                  </a:txBody>
                  <a:tcPr marT="63500" marB="63500" marR="63500" marL="635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3.3054</a:t>
                      </a:r>
                      <a:endParaRPr sz="1100"/>
                    </a:p>
                  </a:txBody>
                  <a:tcPr marT="63500" marB="63500" marR="63500" marL="635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6" name="Google Shape;126;g34aac2de052_0_82"/>
          <p:cNvGraphicFramePr/>
          <p:nvPr/>
        </p:nvGraphicFramePr>
        <p:xfrm>
          <a:off x="3139450" y="416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{67C0F469-56A1-4B1D-A282-79C6D6DB7BCF}</a:tableStyleId>
              </a:tblPr>
              <a:tblGrid>
                <a:gridCol w="1235800"/>
                <a:gridCol w="162930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Load [mA]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Output Voltage [V]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 → R</a:t>
                      </a:r>
                      <a:r>
                        <a:rPr baseline="-25000" lang="en-US" sz="1100"/>
                        <a:t>L</a:t>
                      </a:r>
                      <a:r>
                        <a:rPr lang="en-US" sz="1100"/>
                        <a:t> = 0</a:t>
                      </a: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Ω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4.9848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54  → R</a:t>
                      </a:r>
                      <a:r>
                        <a:rPr baseline="-25000" lang="en-US" sz="1100"/>
                        <a:t>L</a:t>
                      </a:r>
                      <a:r>
                        <a:rPr lang="en-US" sz="1100"/>
                        <a:t> = 200</a:t>
                      </a: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Ω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4.9788 (Pk-Pk: 250mV)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108 → R</a:t>
                      </a:r>
                      <a:r>
                        <a:rPr baseline="-25000" lang="en-US" sz="1100"/>
                        <a:t>L</a:t>
                      </a:r>
                      <a:r>
                        <a:rPr lang="en-US" sz="1100"/>
                        <a:t> = 100</a:t>
                      </a: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Ω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4.8960 (Pk-Pk: 180mV)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145 → R</a:t>
                      </a:r>
                      <a:r>
                        <a:rPr baseline="-25000" lang="en-US" sz="1100"/>
                        <a:t>L</a:t>
                      </a:r>
                      <a:r>
                        <a:rPr lang="en-US" sz="1100"/>
                        <a:t> = 75</a:t>
                      </a: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Ω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4.9476 (Pk-Pk: 150mV)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170 → R</a:t>
                      </a:r>
                      <a:r>
                        <a:rPr baseline="-25000" lang="en-US" sz="1100"/>
                        <a:t>L</a:t>
                      </a:r>
                      <a:r>
                        <a:rPr lang="en-US" sz="1100"/>
                        <a:t> = 70</a:t>
                      </a: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Ω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4.9314 (Pk-Pk: 100mV)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200 → R</a:t>
                      </a:r>
                      <a:r>
                        <a:rPr baseline="-25000" lang="en-US" sz="1100"/>
                        <a:t>L</a:t>
                      </a:r>
                      <a:r>
                        <a:rPr lang="en-US" sz="1100"/>
                        <a:t>= 60</a:t>
                      </a: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Ω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4.8835 (Pk-Pk: 100mV)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250 → R</a:t>
                      </a:r>
                      <a:r>
                        <a:rPr baseline="-25000" lang="en-US" sz="1100"/>
                        <a:t>L</a:t>
                      </a:r>
                      <a:r>
                        <a:rPr lang="en-US" sz="1100"/>
                        <a:t> = 54</a:t>
                      </a: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Ω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4.9375 (Pk-Pk: 50mV)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500 → R</a:t>
                      </a:r>
                      <a:r>
                        <a:rPr baseline="-25000" lang="en-US" sz="1100"/>
                        <a:t>L</a:t>
                      </a:r>
                      <a:r>
                        <a:rPr lang="en-US" sz="1100"/>
                        <a:t> = 50</a:t>
                      </a: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Ω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4.8306 (Pk-Pk: 200mV)</a:t>
                      </a:r>
                      <a:endParaRPr sz="11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graphicFrame>
        <p:nvGraphicFramePr>
          <p:cNvPr id="127" name="Google Shape;127;g34aac2de052_0_82"/>
          <p:cNvGraphicFramePr/>
          <p:nvPr/>
        </p:nvGraphicFramePr>
        <p:xfrm>
          <a:off x="6727225" y="144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{67C0F469-56A1-4B1D-A282-79C6D6DB7BCF}</a:tableStyleId>
              </a:tblPr>
              <a:tblGrid>
                <a:gridCol w="1081850"/>
                <a:gridCol w="1103800"/>
              </a:tblGrid>
              <a:tr h="10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Case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Current Draw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Device just powered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41mA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Transmitting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58mA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Receiving</a:t>
                      </a:r>
                      <a:r>
                        <a:rPr lang="en-US" sz="1100"/>
                        <a:t> 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358mA</a:t>
                      </a:r>
                      <a:endParaRPr sz="11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128" name="Google Shape;128;g34aac2de052_0_82"/>
          <p:cNvSpPr txBox="1"/>
          <p:nvPr/>
        </p:nvSpPr>
        <p:spPr>
          <a:xfrm>
            <a:off x="108300" y="935725"/>
            <a:ext cx="88047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Line Regulation Test 		   Load Regulation Test				  Battery Life Test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29" name="Google Shape;129;g34aac2de052_0_82"/>
          <p:cNvSpPr txBox="1"/>
          <p:nvPr/>
        </p:nvSpPr>
        <p:spPr>
          <a:xfrm>
            <a:off x="3139900" y="1309825"/>
            <a:ext cx="28650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V</a:t>
            </a:r>
            <a:r>
              <a:rPr baseline="-25000" lang="en-US">
                <a:solidFill>
                  <a:schemeClr val="dk1"/>
                </a:solidFill>
              </a:rPr>
              <a:t>OUT</a:t>
            </a:r>
            <a:r>
              <a:rPr lang="en-US">
                <a:solidFill>
                  <a:schemeClr val="dk1"/>
                </a:solidFill>
              </a:rPr>
              <a:t> = 3.3V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0" name="Google Shape;130;g34aac2de052_0_82"/>
          <p:cNvSpPr txBox="1"/>
          <p:nvPr/>
        </p:nvSpPr>
        <p:spPr>
          <a:xfrm>
            <a:off x="3139900" y="3777213"/>
            <a:ext cx="28650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V</a:t>
            </a:r>
            <a:r>
              <a:rPr baseline="-25000" lang="en-US">
                <a:solidFill>
                  <a:schemeClr val="dk1"/>
                </a:solidFill>
              </a:rPr>
              <a:t>OUT</a:t>
            </a:r>
            <a:r>
              <a:rPr lang="en-US">
                <a:solidFill>
                  <a:schemeClr val="dk1"/>
                </a:solidFill>
              </a:rPr>
              <a:t> = 5.0V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1" name="Google Shape;131;g34aac2de052_0_82"/>
          <p:cNvSpPr txBox="1"/>
          <p:nvPr/>
        </p:nvSpPr>
        <p:spPr>
          <a:xfrm>
            <a:off x="6441550" y="3180325"/>
            <a:ext cx="2757000" cy="20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Battery life is 23.5 hours assuming: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US">
                <a:solidFill>
                  <a:schemeClr val="dk1"/>
                </a:solidFill>
              </a:rPr>
              <a:t>20% Receive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US">
                <a:solidFill>
                  <a:schemeClr val="dk1"/>
                </a:solidFill>
              </a:rPr>
              <a:t>20% Transmit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US">
                <a:solidFill>
                  <a:schemeClr val="dk1"/>
                </a:solidFill>
              </a:rPr>
              <a:t>60% Idle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Battery was able to power the system left alone for 40 hours.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Battery takes 5-6 hours to fully charge.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aac2de052_0_68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Engineering Design Accomplishments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11"/>
              <a:t>Junsu Yeo</a:t>
            </a:r>
            <a:endParaRPr sz="2311"/>
          </a:p>
        </p:txBody>
      </p:sp>
      <p:sp>
        <p:nvSpPr>
          <p:cNvPr id="138" name="Google Shape;138;g34aac2de052_0_68"/>
          <p:cNvSpPr txBox="1"/>
          <p:nvPr>
            <p:ph idx="1" type="body"/>
          </p:nvPr>
        </p:nvSpPr>
        <p:spPr>
          <a:xfrm>
            <a:off x="4336900" y="2049275"/>
            <a:ext cx="43500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/>
              <a:t>Designed a </a:t>
            </a:r>
            <a:r>
              <a:rPr b="1" lang="en-US" sz="1400"/>
              <a:t>3D printed case</a:t>
            </a:r>
            <a:r>
              <a:rPr lang="en-US" sz="1400"/>
              <a:t> that properly encloses all components. 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/>
              <a:t>Created openings in the proper positions in the case for users to access the </a:t>
            </a:r>
            <a:r>
              <a:rPr b="1" lang="en-US" sz="1400"/>
              <a:t>transmit button, power switch, and USBC charging port</a:t>
            </a:r>
            <a:r>
              <a:rPr lang="en-US" sz="1400"/>
              <a:t>. 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/>
              <a:t>Mounted the display, launchpad, and power PCB. 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/>
              <a:t>Challenges: This is a </a:t>
            </a:r>
            <a:r>
              <a:rPr b="1" lang="en-US" sz="1400"/>
              <a:t>proof of concept</a:t>
            </a:r>
            <a:r>
              <a:rPr lang="en-US" sz="1400"/>
              <a:t>. Had to be a very large case compared to a standard walkie talkie due to the </a:t>
            </a:r>
            <a:r>
              <a:rPr b="1" lang="en-US" sz="1400"/>
              <a:t>MCU and audio hardware</a:t>
            </a:r>
            <a:r>
              <a:rPr lang="en-US" sz="1400"/>
              <a:t> teammate Q-dropping the course. Theoretically, all hardware could be assembled within a </a:t>
            </a:r>
            <a:r>
              <a:rPr b="1" lang="en-US" sz="1400"/>
              <a:t>single PCB</a:t>
            </a:r>
            <a:r>
              <a:rPr lang="en-US" sz="1400"/>
              <a:t>. </a:t>
            </a:r>
            <a:endParaRPr sz="1400"/>
          </a:p>
        </p:txBody>
      </p:sp>
      <p:pic>
        <p:nvPicPr>
          <p:cNvPr id="139" name="Google Shape;139;g34aac2de052_0_68" title="IMG_412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67" y="2078738"/>
            <a:ext cx="3763011" cy="4018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a250d728b_1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Integrated System Results</a:t>
            </a:r>
            <a:endParaRPr/>
          </a:p>
        </p:txBody>
      </p:sp>
      <p:sp>
        <p:nvSpPr>
          <p:cNvPr id="145" name="Google Shape;145;g34a250d728b_1_0"/>
          <p:cNvSpPr txBox="1"/>
          <p:nvPr>
            <p:ph idx="1" type="body"/>
          </p:nvPr>
        </p:nvSpPr>
        <p:spPr>
          <a:xfrm>
            <a:off x="457200" y="2049270"/>
            <a:ext cx="82296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400"/>
              <a:t>The device can be powered on by sliding the power switch to the on position. </a:t>
            </a:r>
            <a:endParaRPr sz="14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400"/>
              <a:t>Once device is on, the user can press the transmit button located on the side of the walkie talkie and talk into the microphone. </a:t>
            </a:r>
            <a:endParaRPr sz="14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400"/>
              <a:t>MCU compresses from 16-bit audio and transmits.</a:t>
            </a:r>
            <a:endParaRPr sz="14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400"/>
              <a:t>All other walkie-talkies within the range will receive, process, and decompress audio as well as  copy/transmit the compressed audio packets to all other </a:t>
            </a:r>
            <a:r>
              <a:rPr lang="en-US" sz="1400"/>
              <a:t>devices</a:t>
            </a:r>
            <a:r>
              <a:rPr lang="en-US" sz="1400"/>
              <a:t> within their extended range. </a:t>
            </a:r>
            <a:endParaRPr sz="14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400"/>
              <a:t>The audio received by a device will be played out on the speaker. </a:t>
            </a:r>
            <a:endParaRPr sz="14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400"/>
              <a:t>The LCD will show when the device is transmitting or receiving, updating the user which </a:t>
            </a:r>
            <a:r>
              <a:rPr lang="en-US" sz="1400"/>
              <a:t>device</a:t>
            </a:r>
            <a:r>
              <a:rPr lang="en-US" sz="1400"/>
              <a:t> the audio is being transmitted from. </a:t>
            </a:r>
            <a:endParaRPr sz="1400"/>
          </a:p>
        </p:txBody>
      </p:sp>
      <p:sp>
        <p:nvSpPr>
          <p:cNvPr id="146" name="Google Shape;146;g34a250d728b_1_0"/>
          <p:cNvSpPr txBox="1"/>
          <p:nvPr/>
        </p:nvSpPr>
        <p:spPr>
          <a:xfrm>
            <a:off x="855135" y="6352511"/>
            <a:ext cx="410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a250d728b_2_2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Integrated System Results</a:t>
            </a:r>
            <a:endParaRPr/>
          </a:p>
        </p:txBody>
      </p:sp>
      <p:sp>
        <p:nvSpPr>
          <p:cNvPr id="152" name="Google Shape;152;g34a250d728b_2_26"/>
          <p:cNvSpPr txBox="1"/>
          <p:nvPr/>
        </p:nvSpPr>
        <p:spPr>
          <a:xfrm>
            <a:off x="855135" y="6352511"/>
            <a:ext cx="410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3" name="Google Shape;153;g34a250d728b_2_26"/>
          <p:cNvGraphicFramePr/>
          <p:nvPr/>
        </p:nvGraphicFramePr>
        <p:xfrm>
          <a:off x="1033938" y="20230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{950D33BD-EA4D-4D25-A067-4C7DB7DD9E81}</a:tableStyleId>
              </a:tblPr>
              <a:tblGrid>
                <a:gridCol w="3253450"/>
                <a:gridCol w="1399100"/>
                <a:gridCol w="20496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Spec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Min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Accomplished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3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# Devices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✅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Unobstructed Range (of 1 device, not mesh)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100m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✅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Latency (including mesh relay)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Not noticeable (~200ms)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✅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Size in each direction (excluding antenna)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Handheld (&lt;7in)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7.3 inches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Battery Life (while powered on)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24 hours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~23.5 Hours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Audio sampling rate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 kHz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✅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Bits per sample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 bits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✅16-bit -&gt; 8bit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Audio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Understandable with normal speech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work in progress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Conclusions</a:t>
            </a:r>
            <a:endParaRPr/>
          </a:p>
        </p:txBody>
      </p:sp>
      <p:sp>
        <p:nvSpPr>
          <p:cNvPr id="159" name="Google Shape;159;p7"/>
          <p:cNvSpPr txBox="1"/>
          <p:nvPr>
            <p:ph idx="1" type="body"/>
          </p:nvPr>
        </p:nvSpPr>
        <p:spPr>
          <a:xfrm>
            <a:off x="457200" y="2049270"/>
            <a:ext cx="8229600" cy="463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/>
              <a:t>Issues: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Audio hardware teammate Q-dropping, </a:t>
            </a:r>
            <a:endParaRPr sz="1400"/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Had to use CC3200 AUDBOOST as our off the shelf component making processing audio much more intricate. </a:t>
            </a:r>
            <a:endParaRPr sz="1400"/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Had to use I2S buffer transactions over using analog to digital converters 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1400"/>
              <a:t>Current Status: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400"/>
              <a:buChar char="-"/>
            </a:pPr>
            <a:r>
              <a:rPr lang="en-US" sz="1400"/>
              <a:t>Integration complete, but the input audio from the microphone is not fully validated. </a:t>
            </a:r>
            <a:endParaRPr sz="14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855135" y="6352511"/>
            <a:ext cx="4106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a250d728b_1_12"/>
          <p:cNvSpPr txBox="1"/>
          <p:nvPr>
            <p:ph type="title"/>
          </p:nvPr>
        </p:nvSpPr>
        <p:spPr>
          <a:xfrm>
            <a:off x="457200" y="29657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a250d728b_1_18"/>
          <p:cNvSpPr txBox="1"/>
          <p:nvPr>
            <p:ph type="title"/>
          </p:nvPr>
        </p:nvSpPr>
        <p:spPr>
          <a:xfrm>
            <a:off x="457200" y="3102052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Brian Gardner</dc:creator>
</cp:coreProperties>
</file>