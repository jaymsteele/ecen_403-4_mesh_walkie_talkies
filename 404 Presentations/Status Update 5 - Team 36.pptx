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3" roundtripDataSignature="AMtx7midxmFDQsROcoBY2/u21fVd4CHf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36E8BDD-71BA-42EA-BD2F-7C520E002889}">
  <a:tblStyle styleId="{236E8BDD-71BA-42EA-BD2F-7C520E00288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3b635dcee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Michelle</a:t>
            </a:r>
            <a:endParaRPr/>
          </a:p>
        </p:txBody>
      </p:sp>
      <p:sp>
        <p:nvSpPr>
          <p:cNvPr id="56" name="Google Shape;56;g33b635dcee4_1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Kyle</a:t>
            </a:r>
            <a:endParaRPr/>
          </a:p>
        </p:txBody>
      </p:sp>
      <p:sp>
        <p:nvSpPr>
          <p:cNvPr id="63" name="Google Shape;63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Eric</a:t>
            </a:r>
            <a:endParaRPr/>
          </a:p>
        </p:txBody>
      </p:sp>
      <p:sp>
        <p:nvSpPr>
          <p:cNvPr id="70" name="Google Shape;70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3b635dcee4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Eric</a:t>
            </a:r>
            <a:endParaRPr/>
          </a:p>
        </p:txBody>
      </p:sp>
      <p:sp>
        <p:nvSpPr>
          <p:cNvPr id="80" name="Google Shape;80;g33b635dcee4_0_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3b635dcee4_3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Eric</a:t>
            </a:r>
            <a:endParaRPr/>
          </a:p>
        </p:txBody>
      </p:sp>
      <p:sp>
        <p:nvSpPr>
          <p:cNvPr id="91" name="Google Shape;91;g33b635dcee4_3_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3b635dcee4_3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Eric</a:t>
            </a:r>
            <a:endParaRPr/>
          </a:p>
        </p:txBody>
      </p:sp>
      <p:sp>
        <p:nvSpPr>
          <p:cNvPr id="102" name="Google Shape;102;g33b635dcee4_3_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3b635dcee4_1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Eric</a:t>
            </a:r>
            <a:endParaRPr/>
          </a:p>
        </p:txBody>
      </p:sp>
      <p:sp>
        <p:nvSpPr>
          <p:cNvPr id="113" name="Google Shape;113;g33b635dcee4_1_10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9" name="Google Shape;119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3b635dcee4_0_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3b635dcee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3b635dcee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32" name="Google Shape;132;g33b635dcee4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3b635dcee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45" name="Google Shape;145;g33b635dcee4_0_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3b635dcee4_0_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33b635dcee4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Michelle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Michelle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body"/>
          </p:nvPr>
        </p:nvSpPr>
        <p:spPr>
          <a:xfrm>
            <a:off x="457200" y="2049270"/>
            <a:ext cx="8229600" cy="40768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DLCOE_logo_HWHT.png" id="21" name="Google Shape;2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851" y="234146"/>
            <a:ext cx="2443865" cy="41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4"/>
          <p:cNvSpPr txBox="1"/>
          <p:nvPr>
            <p:ph type="ctrTitle"/>
          </p:nvPr>
        </p:nvSpPr>
        <p:spPr>
          <a:xfrm>
            <a:off x="3969582" y="2130425"/>
            <a:ext cx="4488617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" type="subTitle"/>
          </p:nvPr>
        </p:nvSpPr>
        <p:spPr>
          <a:xfrm>
            <a:off x="3124200" y="3886200"/>
            <a:ext cx="5333999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5" name="Google Shape;25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457200" y="1975644"/>
            <a:ext cx="4038600" cy="4150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0" name="Google Shape;30;p15"/>
          <p:cNvSpPr txBox="1"/>
          <p:nvPr>
            <p:ph idx="2" type="body"/>
          </p:nvPr>
        </p:nvSpPr>
        <p:spPr>
          <a:xfrm>
            <a:off x="4648200" y="1975644"/>
            <a:ext cx="4038600" cy="4150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1" name="Google Shape;3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6"/>
          <p:cNvSpPr txBox="1"/>
          <p:nvPr>
            <p:ph type="title"/>
          </p:nvPr>
        </p:nvSpPr>
        <p:spPr>
          <a:xfrm>
            <a:off x="457200" y="290064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1066968"/>
            <a:ext cx="3008313" cy="7368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3575050" y="1073720"/>
            <a:ext cx="5111750" cy="505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1" sz="28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1803850"/>
            <a:ext cx="3008313" cy="4322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4" name="Google Shape;44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8"/>
          <p:cNvSpPr txBox="1"/>
          <p:nvPr>
            <p:ph type="title"/>
          </p:nvPr>
        </p:nvSpPr>
        <p:spPr>
          <a:xfrm>
            <a:off x="457200" y="1196430"/>
            <a:ext cx="2573672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8"/>
          <p:cNvSpPr/>
          <p:nvPr>
            <p:ph idx="2" type="pic"/>
          </p:nvPr>
        </p:nvSpPr>
        <p:spPr>
          <a:xfrm>
            <a:off x="3200400" y="1196430"/>
            <a:ext cx="5486400" cy="4850287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18"/>
          <p:cNvSpPr txBox="1"/>
          <p:nvPr>
            <p:ph idx="1" type="body"/>
          </p:nvPr>
        </p:nvSpPr>
        <p:spPr>
          <a:xfrm>
            <a:off x="457200" y="1768043"/>
            <a:ext cx="2573672" cy="42786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image" Target="../media/image16.png"/><Relationship Id="rId6" Type="http://schemas.openxmlformats.org/officeDocument/2006/relationships/image" Target="../media/image4.png"/><Relationship Id="rId7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image" Target="../media/image16.png"/><Relationship Id="rId6" Type="http://schemas.openxmlformats.org/officeDocument/2006/relationships/image" Target="../media/image4.png"/><Relationship Id="rId7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image" Target="../media/image16.png"/><Relationship Id="rId6" Type="http://schemas.openxmlformats.org/officeDocument/2006/relationships/image" Target="../media/image4.png"/><Relationship Id="rId7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image" Target="../media/image16.png"/><Relationship Id="rId6" Type="http://schemas.openxmlformats.org/officeDocument/2006/relationships/image" Target="../media/image4.png"/><Relationship Id="rId7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://drive.google.com/file/d/1GzWqJHaQhrIPrAVb8MyraFJKQDYwTun_/view" TargetMode="External"/><Relationship Id="rId4" Type="http://schemas.openxmlformats.org/officeDocument/2006/relationships/image" Target="../media/image1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3b635dcee4_1_0"/>
          <p:cNvSpPr txBox="1"/>
          <p:nvPr>
            <p:ph type="ctrTitle"/>
          </p:nvPr>
        </p:nvSpPr>
        <p:spPr>
          <a:xfrm>
            <a:off x="1619250" y="3814625"/>
            <a:ext cx="7302600" cy="229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1111"/>
              <a:buFont typeface="Arial"/>
              <a:buNone/>
            </a:pPr>
            <a:r>
              <a:rPr lang="en-US"/>
              <a:t>Team 36: Mesh Walkie Talkies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62932"/>
              <a:buFont typeface="Arial"/>
              <a:buNone/>
            </a:pPr>
            <a:r>
              <a:rPr lang="en-US"/>
              <a:t>Bi-Weekly Update 5</a:t>
            </a:r>
            <a:br>
              <a:rPr lang="en-US"/>
            </a:br>
            <a:r>
              <a:rPr lang="en-US" sz="2455"/>
              <a:t>Cole Cieslewicz, Jaiah Steele, Junsu Yeo</a:t>
            </a:r>
            <a:br>
              <a:rPr lang="en-US" sz="2455"/>
            </a:br>
            <a:r>
              <a:rPr lang="en-US" sz="2455"/>
              <a:t>Sponsor: Giuseppe Rizzi</a:t>
            </a:r>
            <a:br>
              <a:rPr lang="en-US" sz="2455"/>
            </a:br>
            <a:r>
              <a:rPr lang="en-US" sz="2455"/>
              <a:t>TA: Niloofar Borzooei</a:t>
            </a:r>
            <a:br>
              <a:rPr lang="en-US" sz="2455"/>
            </a:br>
            <a:endParaRPr sz="2455"/>
          </a:p>
        </p:txBody>
      </p:sp>
      <p:sp>
        <p:nvSpPr>
          <p:cNvPr id="59" name="Google Shape;59;g33b635dcee4_1_0"/>
          <p:cNvSpPr/>
          <p:nvPr/>
        </p:nvSpPr>
        <p:spPr>
          <a:xfrm>
            <a:off x="0" y="0"/>
            <a:ext cx="6111300" cy="6111300"/>
          </a:xfrm>
          <a:prstGeom prst="diagStripe">
            <a:avLst>
              <a:gd fmla="val 28990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193675" rotWithShape="0" dir="5400000" dist="230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LCOE_logo_HWHT.png" id="60" name="Google Shape;60;g33b635dcee4_1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44000" y="1105318"/>
            <a:ext cx="3114199" cy="525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Project Summary</a:t>
            </a:r>
            <a:endParaRPr/>
          </a:p>
        </p:txBody>
      </p:sp>
      <p:sp>
        <p:nvSpPr>
          <p:cNvPr id="66" name="Google Shape;66;p4"/>
          <p:cNvSpPr txBox="1"/>
          <p:nvPr>
            <p:ph idx="1" type="body"/>
          </p:nvPr>
        </p:nvSpPr>
        <p:spPr>
          <a:xfrm>
            <a:off x="457200" y="2049275"/>
            <a:ext cx="4532100" cy="46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Conventional Walkie-Talkies:</a:t>
            </a:r>
            <a:endParaRPr sz="2600"/>
          </a:p>
          <a:p>
            <a:pPr indent="-3937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00"/>
              <a:buChar char="-"/>
            </a:pPr>
            <a:r>
              <a:rPr lang="en-US" sz="2600"/>
              <a:t>Require close, limited communication</a:t>
            </a:r>
            <a:endParaRPr sz="2600"/>
          </a:p>
          <a:p>
            <a:pPr indent="-3937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00"/>
              <a:buChar char="-"/>
            </a:pPr>
            <a:r>
              <a:rPr lang="en-US" sz="2600"/>
              <a:t>No network advantage</a:t>
            </a:r>
            <a:endParaRPr sz="26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-2286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Our solution:</a:t>
            </a:r>
            <a:endParaRPr sz="2600"/>
          </a:p>
          <a:p>
            <a:pPr indent="-3937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00"/>
              <a:buChar char="-"/>
            </a:pPr>
            <a:r>
              <a:rPr lang="en-US" sz="2600"/>
              <a:t>Mesh network to extend communication range and reliability. </a:t>
            </a:r>
            <a:endParaRPr sz="2600"/>
          </a:p>
        </p:txBody>
      </p:sp>
      <p:pic>
        <p:nvPicPr>
          <p:cNvPr id="67" name="Google Shape;67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9344" y="2264450"/>
            <a:ext cx="3505326" cy="3505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525" y="1671815"/>
            <a:ext cx="2237943" cy="47003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5"/>
          <p:cNvPicPr preferRelativeResize="0"/>
          <p:nvPr/>
        </p:nvPicPr>
        <p:blipFill rotWithShape="1">
          <a:blip r:embed="rId4">
            <a:alphaModFix/>
          </a:blip>
          <a:srcRect b="26552" l="22944" r="40018" t="38288"/>
          <a:stretch/>
        </p:blipFill>
        <p:spPr>
          <a:xfrm>
            <a:off x="821213" y="4683400"/>
            <a:ext cx="1103635" cy="1397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5"/>
          <p:cNvPicPr preferRelativeResize="0"/>
          <p:nvPr/>
        </p:nvPicPr>
        <p:blipFill rotWithShape="1">
          <a:blip r:embed="rId5">
            <a:alphaModFix/>
          </a:blip>
          <a:srcRect b="24870" l="32928" r="36054" t="22672"/>
          <a:stretch/>
        </p:blipFill>
        <p:spPr>
          <a:xfrm>
            <a:off x="626963" y="1941963"/>
            <a:ext cx="1844874" cy="4160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5400000">
            <a:off x="1591346" y="4499154"/>
            <a:ext cx="562050" cy="3519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5"/>
          <p:cNvSpPr txBox="1"/>
          <p:nvPr/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0000"/>
                </a:solidFill>
              </a:rPr>
              <a:t>Integrated System Diagram</a:t>
            </a:r>
            <a:endParaRPr b="1" sz="3200">
              <a:solidFill>
                <a:srgbClr val="000000"/>
              </a:solidFill>
            </a:endParaRPr>
          </a:p>
        </p:txBody>
      </p:sp>
      <p:pic>
        <p:nvPicPr>
          <p:cNvPr id="77" name="Google Shape;77;p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1412" y="1671802"/>
            <a:ext cx="2230183" cy="4700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g33b635dcee4_0_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525" y="1671815"/>
            <a:ext cx="2237943" cy="4700322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g33b635dcee4_0_47"/>
          <p:cNvPicPr preferRelativeResize="0"/>
          <p:nvPr/>
        </p:nvPicPr>
        <p:blipFill rotWithShape="1">
          <a:blip r:embed="rId4">
            <a:alphaModFix/>
          </a:blip>
          <a:srcRect b="26552" l="22944" r="40018" t="38288"/>
          <a:stretch/>
        </p:blipFill>
        <p:spPr>
          <a:xfrm>
            <a:off x="821213" y="4683400"/>
            <a:ext cx="1103635" cy="1397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g33b635dcee4_0_47"/>
          <p:cNvPicPr preferRelativeResize="0"/>
          <p:nvPr/>
        </p:nvPicPr>
        <p:blipFill rotWithShape="1">
          <a:blip r:embed="rId5">
            <a:alphaModFix/>
          </a:blip>
          <a:srcRect b="24870" l="32928" r="36054" t="22672"/>
          <a:stretch/>
        </p:blipFill>
        <p:spPr>
          <a:xfrm>
            <a:off x="626963" y="1941963"/>
            <a:ext cx="1844874" cy="4160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g33b635dcee4_0_47"/>
          <p:cNvPicPr preferRelativeResize="0"/>
          <p:nvPr/>
        </p:nvPicPr>
        <p:blipFill rotWithShape="1">
          <a:blip r:embed="rId6">
            <a:alphaModFix/>
          </a:blip>
          <a:srcRect b="0" l="0" r="0" t="32736"/>
          <a:stretch/>
        </p:blipFill>
        <p:spPr>
          <a:xfrm rot="5400000">
            <a:off x="1533749" y="4556750"/>
            <a:ext cx="562050" cy="2367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g33b635dcee4_0_47"/>
          <p:cNvSpPr txBox="1"/>
          <p:nvPr/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0000"/>
                </a:solidFill>
              </a:rPr>
              <a:t>Integrated System Diagram</a:t>
            </a:r>
            <a:endParaRPr b="1" sz="3200">
              <a:solidFill>
                <a:srgbClr val="000000"/>
              </a:solidFill>
            </a:endParaRPr>
          </a:p>
        </p:txBody>
      </p:sp>
      <p:pic>
        <p:nvPicPr>
          <p:cNvPr id="87" name="Google Shape;87;g33b635dcee4_0_4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66687" y="1671814"/>
            <a:ext cx="2230183" cy="4700323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g33b635dcee4_0_47"/>
          <p:cNvPicPr preferRelativeResize="0"/>
          <p:nvPr/>
        </p:nvPicPr>
        <p:blipFill rotWithShape="1">
          <a:blip r:embed="rId6">
            <a:alphaModFix/>
          </a:blip>
          <a:srcRect b="68397" l="30140" r="51142" t="3327"/>
          <a:stretch/>
        </p:blipFill>
        <p:spPr>
          <a:xfrm rot="5400000">
            <a:off x="1930275" y="4545300"/>
            <a:ext cx="105200" cy="9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g33b635dcee4_3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525" y="1671815"/>
            <a:ext cx="2237943" cy="470032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g33b635dcee4_3_1"/>
          <p:cNvPicPr preferRelativeResize="0"/>
          <p:nvPr/>
        </p:nvPicPr>
        <p:blipFill rotWithShape="1">
          <a:blip r:embed="rId4">
            <a:alphaModFix/>
          </a:blip>
          <a:srcRect b="26552" l="22944" r="40018" t="38288"/>
          <a:stretch/>
        </p:blipFill>
        <p:spPr>
          <a:xfrm>
            <a:off x="821213" y="4683400"/>
            <a:ext cx="1103635" cy="1397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g33b635dcee4_3_1"/>
          <p:cNvPicPr preferRelativeResize="0"/>
          <p:nvPr/>
        </p:nvPicPr>
        <p:blipFill rotWithShape="1">
          <a:blip r:embed="rId5">
            <a:alphaModFix/>
          </a:blip>
          <a:srcRect b="24870" l="32928" r="36054" t="22672"/>
          <a:stretch/>
        </p:blipFill>
        <p:spPr>
          <a:xfrm>
            <a:off x="4643338" y="1852863"/>
            <a:ext cx="1844874" cy="4160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g33b635dcee4_3_1"/>
          <p:cNvPicPr preferRelativeResize="0"/>
          <p:nvPr/>
        </p:nvPicPr>
        <p:blipFill rotWithShape="1">
          <a:blip r:embed="rId6">
            <a:alphaModFix/>
          </a:blip>
          <a:srcRect b="0" l="0" r="0" t="32736"/>
          <a:stretch/>
        </p:blipFill>
        <p:spPr>
          <a:xfrm rot="5400000">
            <a:off x="5550124" y="4467650"/>
            <a:ext cx="562050" cy="23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g33b635dcee4_3_1"/>
          <p:cNvSpPr txBox="1"/>
          <p:nvPr/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0000"/>
                </a:solidFill>
              </a:rPr>
              <a:t>Integrated System Diagram</a:t>
            </a:r>
            <a:endParaRPr b="1" sz="3200">
              <a:solidFill>
                <a:srgbClr val="000000"/>
              </a:solidFill>
            </a:endParaRPr>
          </a:p>
        </p:txBody>
      </p:sp>
      <p:pic>
        <p:nvPicPr>
          <p:cNvPr id="98" name="Google Shape;98;g33b635dcee4_3_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66687" y="1671814"/>
            <a:ext cx="2230183" cy="4700323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g33b635dcee4_3_1"/>
          <p:cNvPicPr preferRelativeResize="0"/>
          <p:nvPr/>
        </p:nvPicPr>
        <p:blipFill rotWithShape="1">
          <a:blip r:embed="rId6">
            <a:alphaModFix/>
          </a:blip>
          <a:srcRect b="68397" l="30140" r="51142" t="3327"/>
          <a:stretch/>
        </p:blipFill>
        <p:spPr>
          <a:xfrm rot="5400000">
            <a:off x="5946650" y="4456200"/>
            <a:ext cx="105200" cy="9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g33b635dcee4_3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525" y="1671815"/>
            <a:ext cx="2237943" cy="47003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g33b635dcee4_3_11"/>
          <p:cNvPicPr preferRelativeResize="0"/>
          <p:nvPr/>
        </p:nvPicPr>
        <p:blipFill rotWithShape="1">
          <a:blip r:embed="rId4">
            <a:alphaModFix/>
          </a:blip>
          <a:srcRect b="26552" l="22944" r="40018" t="38288"/>
          <a:stretch/>
        </p:blipFill>
        <p:spPr>
          <a:xfrm>
            <a:off x="3077588" y="4699275"/>
            <a:ext cx="1103635" cy="1397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g33b635dcee4_3_11"/>
          <p:cNvPicPr preferRelativeResize="0"/>
          <p:nvPr/>
        </p:nvPicPr>
        <p:blipFill rotWithShape="1">
          <a:blip r:embed="rId5">
            <a:alphaModFix/>
          </a:blip>
          <a:srcRect b="24870" l="32928" r="36054" t="22672"/>
          <a:stretch/>
        </p:blipFill>
        <p:spPr>
          <a:xfrm>
            <a:off x="4643338" y="1852863"/>
            <a:ext cx="1844874" cy="4160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g33b635dcee4_3_11"/>
          <p:cNvPicPr preferRelativeResize="0"/>
          <p:nvPr/>
        </p:nvPicPr>
        <p:blipFill rotWithShape="1">
          <a:blip r:embed="rId6">
            <a:alphaModFix/>
          </a:blip>
          <a:srcRect b="0" l="0" r="0" t="32736"/>
          <a:stretch/>
        </p:blipFill>
        <p:spPr>
          <a:xfrm rot="5400000">
            <a:off x="5550124" y="4467650"/>
            <a:ext cx="562050" cy="23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g33b635dcee4_3_11"/>
          <p:cNvSpPr txBox="1"/>
          <p:nvPr/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0000"/>
                </a:solidFill>
              </a:rPr>
              <a:t>Integrated System Diagram</a:t>
            </a:r>
            <a:endParaRPr b="1" sz="3200">
              <a:solidFill>
                <a:srgbClr val="000000"/>
              </a:solidFill>
            </a:endParaRPr>
          </a:p>
        </p:txBody>
      </p:sp>
      <p:pic>
        <p:nvPicPr>
          <p:cNvPr id="109" name="Google Shape;109;g33b635dcee4_3_1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66687" y="1671814"/>
            <a:ext cx="2230183" cy="47003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g33b635dcee4_3_11"/>
          <p:cNvPicPr preferRelativeResize="0"/>
          <p:nvPr/>
        </p:nvPicPr>
        <p:blipFill rotWithShape="1">
          <a:blip r:embed="rId6">
            <a:alphaModFix/>
          </a:blip>
          <a:srcRect b="68397" l="30140" r="51142" t="3327"/>
          <a:stretch/>
        </p:blipFill>
        <p:spPr>
          <a:xfrm rot="5400000">
            <a:off x="5946650" y="4456200"/>
            <a:ext cx="105200" cy="9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3b635dcee4_1_102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Project Timeline</a:t>
            </a:r>
            <a:endParaRPr/>
          </a:p>
        </p:txBody>
      </p:sp>
      <p:graphicFrame>
        <p:nvGraphicFramePr>
          <p:cNvPr id="116" name="Google Shape;116;g33b635dcee4_1_102"/>
          <p:cNvGraphicFramePr/>
          <p:nvPr/>
        </p:nvGraphicFramePr>
        <p:xfrm>
          <a:off x="230909" y="27869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{236E8BDD-71BA-42EA-BD2F-7C520E002889}</a:tableStyleId>
              </a:tblPr>
              <a:tblGrid>
                <a:gridCol w="1245350"/>
                <a:gridCol w="1240575"/>
                <a:gridCol w="1242975"/>
                <a:gridCol w="1252525"/>
                <a:gridCol w="1308550"/>
                <a:gridCol w="1182175"/>
                <a:gridCol w="1099200"/>
              </a:tblGrid>
              <a:tr h="1387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Subsystem Designs and Testing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(completed </a:t>
                      </a:r>
                      <a:r>
                        <a:rPr lang="en-US" sz="1300"/>
                        <a:t>1/31</a:t>
                      </a:r>
                      <a:r>
                        <a:rPr lang="en-US" sz="1300" u="none" cap="none" strike="noStrike"/>
                        <a:t>)</a:t>
                      </a:r>
                      <a:endParaRPr/>
                    </a:p>
                  </a:txBody>
                  <a:tcPr marT="45675" marB="45675" marR="91425" marL="914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Integration of Power System and Launchpad </a:t>
                      </a:r>
                      <a:br>
                        <a:rPr lang="en-US" sz="1300">
                          <a:solidFill>
                            <a:srgbClr val="000000"/>
                          </a:solidFill>
                        </a:rPr>
                      </a:br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(to complete by 2/26)</a:t>
                      </a:r>
                      <a:endParaRPr sz="1300"/>
                    </a:p>
                  </a:txBody>
                  <a:tcPr marT="45675" marB="45675" marR="91425" marL="914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Integration of mesh network and audio </a:t>
                      </a:r>
                      <a:endParaRPr sz="1300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(to complete by 3/5)</a:t>
                      </a:r>
                      <a:endParaRPr sz="1300"/>
                    </a:p>
                  </a:txBody>
                  <a:tcPr marT="45675" marB="45675" marR="91425" marL="914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3D printing walkie talkie case</a:t>
                      </a:r>
                      <a:br>
                        <a:rPr lang="en-US" sz="1300" u="none" cap="none" strike="noStrike"/>
                      </a:br>
                      <a:r>
                        <a:rPr lang="en-US" sz="1300" u="none" cap="none" strike="noStrike"/>
                        <a:t>(to complete by </a:t>
                      </a:r>
                      <a:r>
                        <a:rPr lang="en-US" sz="1300"/>
                        <a:t>3/12</a:t>
                      </a:r>
                      <a:r>
                        <a:rPr lang="en-US" sz="1300" u="none" cap="none" strike="noStrike"/>
                        <a:t>)</a:t>
                      </a:r>
                      <a:endParaRPr/>
                    </a:p>
                  </a:txBody>
                  <a:tcPr marT="45675" marB="45675" marR="91425" marL="914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Enclosing device and </a:t>
                      </a:r>
                      <a:r>
                        <a:rPr lang="en-US" sz="1300" u="none" cap="none" strike="noStrike"/>
                        <a:t>System Test</a:t>
                      </a:r>
                      <a:br>
                        <a:rPr lang="en-US" sz="1300" u="none" cap="none" strike="noStrike"/>
                      </a:br>
                      <a:r>
                        <a:rPr lang="en-US" sz="1300" u="none" cap="none" strike="noStrike"/>
                        <a:t>(to complete by </a:t>
                      </a:r>
                      <a:r>
                        <a:rPr lang="en-US" sz="1300"/>
                        <a:t>4/02</a:t>
                      </a:r>
                      <a:r>
                        <a:rPr lang="en-US" sz="1300" u="none" cap="none" strike="noStrike"/>
                        <a:t>)</a:t>
                      </a:r>
                      <a:endParaRPr/>
                    </a:p>
                  </a:txBody>
                  <a:tcPr marT="45675" marB="45675" marR="91425" marL="914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Validation</a:t>
                      </a:r>
                      <a:br>
                        <a:rPr lang="en-US" sz="1300" u="none" cap="none" strike="noStrike"/>
                      </a:br>
                      <a:r>
                        <a:rPr lang="en-US" sz="1300" u="none" cap="none" strike="noStrike"/>
                        <a:t>(to complete by </a:t>
                      </a:r>
                      <a:r>
                        <a:rPr lang="en-US" sz="1300"/>
                        <a:t>4/16</a:t>
                      </a:r>
                      <a:r>
                        <a:rPr lang="en-US" sz="1300" u="none" cap="none" strike="noStrike"/>
                        <a:t>)</a:t>
                      </a:r>
                      <a:endParaRPr/>
                    </a:p>
                  </a:txBody>
                  <a:tcPr marT="45675" marB="45675" marR="91425" marL="914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Demo and Report </a:t>
                      </a:r>
                      <a:br>
                        <a:rPr lang="en-US" sz="1300" u="none" cap="none" strike="noStrike"/>
                      </a:br>
                      <a:r>
                        <a:rPr lang="en-US" sz="1300" u="none" cap="none" strike="noStrike"/>
                        <a:t>(to complete by </a:t>
                      </a:r>
                      <a:r>
                        <a:rPr lang="en-US" sz="1300"/>
                        <a:t>4/28</a:t>
                      </a:r>
                      <a:r>
                        <a:rPr lang="en-US" sz="1300" u="none" cap="none" strike="noStrike"/>
                        <a:t>)</a:t>
                      </a:r>
                      <a:endParaRPr sz="1300" u="none" cap="none" strike="noStrike"/>
                    </a:p>
                  </a:txBody>
                  <a:tcPr marT="45675" marB="45675" marR="91425" marL="914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Mesh Audio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2200"/>
              <a:t>Jaiah Steele</a:t>
            </a:r>
            <a:endParaRPr sz="2200"/>
          </a:p>
        </p:txBody>
      </p:sp>
      <p:graphicFrame>
        <p:nvGraphicFramePr>
          <p:cNvPr id="122" name="Google Shape;122;p7"/>
          <p:cNvGraphicFramePr/>
          <p:nvPr/>
        </p:nvGraphicFramePr>
        <p:xfrm>
          <a:off x="685800" y="195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{236E8BDD-71BA-42EA-BD2F-7C520E002889}</a:tableStyleId>
              </a:tblPr>
              <a:tblGrid>
                <a:gridCol w="3886200"/>
                <a:gridCol w="3886200"/>
              </a:tblGrid>
              <a:tr h="64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last update                          </a:t>
                      </a: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30</a:t>
                      </a: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 hrs of effort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734600">
                <a:tc>
                  <a:txBody>
                    <a:bodyPr/>
                    <a:lstStyle/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-"/>
                      </a:pPr>
                      <a:r>
                        <a:rPr lang="en-US" sz="1800"/>
                        <a:t>Validated unobstructed walkie-walkie line of sight non-mesh range (~150 meters).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-"/>
                      </a:pPr>
                      <a:r>
                        <a:rPr lang="en-US" sz="1800"/>
                        <a:t>Range tested using power system PCB (Independent of PC USBC).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-"/>
                      </a:pPr>
                      <a:r>
                        <a:rPr lang="en-US" sz="1800"/>
                        <a:t>Created sine wave alternating tone pattern with varying frequencies from sender to output on receiving walkie speakers. 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-"/>
                      </a:pPr>
                      <a:r>
                        <a:rPr lang="en-US" sz="1800"/>
                        <a:t>Investigated changing system configuration of PHY type.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-"/>
                      </a:pPr>
                      <a:r>
                        <a:rPr lang="en-US" sz="1800"/>
                        <a:t>Solve microphone -&gt; audio processing/compression problems. 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-"/>
                      </a:pPr>
                      <a:r>
                        <a:rPr lang="en-US" sz="1800"/>
                        <a:t>Continue latency validation using packet send/receive RTC.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g33b635dcee4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653" y="2113475"/>
            <a:ext cx="4903801" cy="379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33b635dcee4_0_12"/>
          <p:cNvSpPr txBox="1"/>
          <p:nvPr/>
        </p:nvSpPr>
        <p:spPr>
          <a:xfrm>
            <a:off x="5391500" y="2113475"/>
            <a:ext cx="3084000" cy="43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US" sz="1800">
                <a:solidFill>
                  <a:schemeClr val="dk1"/>
                </a:solidFill>
              </a:rPr>
              <a:t>Switches tone pattern every 10 packets (i.e., roughly every 0.4s if sending every 40ms).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US" sz="1800">
                <a:solidFill>
                  <a:schemeClr val="dk1"/>
                </a:solidFill>
              </a:rPr>
              <a:t>Alternates between high-pitched and low-pitched tone.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US" sz="1800">
                <a:solidFill>
                  <a:schemeClr val="dk1"/>
                </a:solidFill>
              </a:rPr>
              <a:t>A pulsing alternating tone is transmitted repeatedly over RF.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US" sz="1800">
                <a:solidFill>
                  <a:schemeClr val="dk1"/>
                </a:solidFill>
              </a:rPr>
              <a:t>Receiving walkie-talkies can decode this as simple audio tones, helping test the audio transmission pipeline.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</a:endParaRPr>
          </a:p>
        </p:txBody>
      </p:sp>
      <p:sp>
        <p:nvSpPr>
          <p:cNvPr id="129" name="Google Shape;129;g33b635dcee4_0_12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Mesh Audio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2200"/>
              <a:t>Jaiah Steele</a:t>
            </a:r>
            <a:endParaRPr sz="2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3b635dcee4_0_0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Mesh Audio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2200"/>
              <a:t>Cole Cieslewicz</a:t>
            </a:r>
            <a:endParaRPr sz="2200"/>
          </a:p>
        </p:txBody>
      </p:sp>
      <p:graphicFrame>
        <p:nvGraphicFramePr>
          <p:cNvPr id="135" name="Google Shape;135;g33b635dcee4_0_0"/>
          <p:cNvGraphicFramePr/>
          <p:nvPr/>
        </p:nvGraphicFramePr>
        <p:xfrm>
          <a:off x="685800" y="195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{236E8BDD-71BA-42EA-BD2F-7C520E002889}</a:tableStyleId>
              </a:tblPr>
              <a:tblGrid>
                <a:gridCol w="3886200"/>
                <a:gridCol w="3886200"/>
              </a:tblGrid>
              <a:tr h="64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last update                          </a:t>
                      </a: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25</a:t>
                      </a: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 hrs of effort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734600">
                <a:tc>
                  <a:txBody>
                    <a:bodyPr/>
                    <a:lstStyle/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-"/>
                      </a:pPr>
                      <a:r>
                        <a:rPr lang="en-US" sz="1800"/>
                        <a:t>Created non-compressed transmission/reception code.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-"/>
                      </a:pPr>
                      <a:r>
                        <a:rPr lang="en-US" sz="1800"/>
                        <a:t>Validated compression code, despite not being enough.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-"/>
                      </a:pPr>
                      <a:r>
                        <a:rPr lang="en-US" sz="1800"/>
                        <a:t>Validated that audio code works in mesh system.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-"/>
                      </a:pPr>
                      <a:r>
                        <a:rPr lang="en-US" sz="1800"/>
                        <a:t>Developing code to compress audio even further.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-"/>
                      </a:pPr>
                      <a:r>
                        <a:rPr lang="en-US" sz="1800"/>
                        <a:t>Debug present code that will allow audio transmission to be intelligible.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-"/>
                      </a:pPr>
                      <a:r>
                        <a:rPr lang="en-US" sz="1800"/>
                        <a:t>Attempting new compression method.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-"/>
                      </a:pPr>
                      <a:r>
                        <a:rPr lang="en-US" sz="1800"/>
                        <a:t>Latency validation.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"/>
          <p:cNvSpPr txBox="1"/>
          <p:nvPr>
            <p:ph type="title"/>
          </p:nvPr>
        </p:nvSpPr>
        <p:spPr>
          <a:xfrm>
            <a:off x="4572000" y="198625"/>
            <a:ext cx="41148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Mesh Audio</a:t>
            </a:r>
            <a:endParaRPr/>
          </a:p>
        </p:txBody>
      </p:sp>
      <p:pic>
        <p:nvPicPr>
          <p:cNvPr id="141" name="Google Shape;141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925" y="1550500"/>
            <a:ext cx="5787949" cy="471112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8"/>
          <p:cNvSpPr txBox="1"/>
          <p:nvPr/>
        </p:nvSpPr>
        <p:spPr>
          <a:xfrm>
            <a:off x="5943875" y="2228175"/>
            <a:ext cx="29208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US" sz="1800">
                <a:solidFill>
                  <a:schemeClr val="dk1"/>
                </a:solidFill>
              </a:rPr>
              <a:t>Code to read in from microphone, buffer it, packetize it, and vice versa for output.  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US" sz="1800">
                <a:solidFill>
                  <a:schemeClr val="dk1"/>
                </a:solidFill>
              </a:rPr>
              <a:t>Integrated with I2S driver.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US" sz="1800">
                <a:solidFill>
                  <a:schemeClr val="dk1"/>
                </a:solidFill>
              </a:rPr>
              <a:t>Devices show blinking lights consistent with previous functionality, indicating correct function, but without any output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3b635dcee4_0_6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Power System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2200"/>
              <a:t>Junsu Yeo</a:t>
            </a:r>
            <a:endParaRPr sz="2200"/>
          </a:p>
        </p:txBody>
      </p:sp>
      <p:graphicFrame>
        <p:nvGraphicFramePr>
          <p:cNvPr id="148" name="Google Shape;148;g33b635dcee4_0_6"/>
          <p:cNvGraphicFramePr/>
          <p:nvPr/>
        </p:nvGraphicFramePr>
        <p:xfrm>
          <a:off x="685800" y="195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{236E8BDD-71BA-42EA-BD2F-7C520E002889}</a:tableStyleId>
              </a:tblPr>
              <a:tblGrid>
                <a:gridCol w="3886200"/>
                <a:gridCol w="3886200"/>
              </a:tblGrid>
              <a:tr h="64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last update                          </a:t>
                      </a: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15</a:t>
                      </a: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 hrs of effort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734600">
                <a:tc>
                  <a:txBody>
                    <a:bodyPr/>
                    <a:lstStyle/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-"/>
                      </a:pPr>
                      <a:r>
                        <a:rPr lang="en-US" sz="1800"/>
                        <a:t>All validation and testing for power system was done before update 4.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-"/>
                      </a:pPr>
                      <a:r>
                        <a:rPr lang="en-US" sz="1800"/>
                        <a:t>New PCB with the power switch works as expected.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-"/>
                      </a:pPr>
                      <a:r>
                        <a:rPr lang="en-US" sz="1800"/>
                        <a:t>Put in a 3D print request at FEDC for Walkie Talkie Case.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-"/>
                      </a:pPr>
                      <a:r>
                        <a:rPr lang="en-US" sz="1800"/>
                        <a:t>Ensure the case fits everything and works as expected, make changes if needed.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-"/>
                      </a:pPr>
                      <a:r>
                        <a:rPr lang="en-US" sz="1800"/>
                        <a:t>Finish assembly of 2 more PCBs.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-"/>
                      </a:pPr>
                      <a:r>
                        <a:rPr lang="en-US" sz="1800"/>
                        <a:t>Final system testing with all components in the case.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3b635dcee4_0_18"/>
          <p:cNvSpPr txBox="1"/>
          <p:nvPr>
            <p:ph type="title"/>
          </p:nvPr>
        </p:nvSpPr>
        <p:spPr>
          <a:xfrm>
            <a:off x="609600" y="12015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Power System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2200"/>
              <a:t>Junsu Yeo</a:t>
            </a:r>
            <a:endParaRPr sz="2200"/>
          </a:p>
        </p:txBody>
      </p:sp>
      <p:pic>
        <p:nvPicPr>
          <p:cNvPr id="154" name="Google Shape;154;g33b635dcee4_0_18" title="IMG_3812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92900" y="2118802"/>
            <a:ext cx="2558207" cy="45479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"/>
          <p:cNvSpPr txBox="1"/>
          <p:nvPr>
            <p:ph type="title"/>
          </p:nvPr>
        </p:nvSpPr>
        <p:spPr>
          <a:xfrm>
            <a:off x="2964800" y="2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Execution Plan </a:t>
            </a:r>
            <a:endParaRPr/>
          </a:p>
        </p:txBody>
      </p:sp>
      <p:pic>
        <p:nvPicPr>
          <p:cNvPr id="160" name="Google Shape;160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56102"/>
            <a:ext cx="8839201" cy="54186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"/>
          <p:cNvSpPr txBox="1"/>
          <p:nvPr>
            <p:ph type="title"/>
          </p:nvPr>
        </p:nvSpPr>
        <p:spPr>
          <a:xfrm>
            <a:off x="2925925" y="2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Validation Plan </a:t>
            </a:r>
            <a:endParaRPr/>
          </a:p>
        </p:txBody>
      </p:sp>
      <p:pic>
        <p:nvPicPr>
          <p:cNvPr id="166" name="Google Shape;166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875" y="917200"/>
            <a:ext cx="7918241" cy="590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"/>
          <p:cNvSpPr txBox="1"/>
          <p:nvPr>
            <p:ph idx="1" type="body"/>
          </p:nvPr>
        </p:nvSpPr>
        <p:spPr>
          <a:xfrm>
            <a:off x="457200" y="1608545"/>
            <a:ext cx="8229600" cy="40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Thank you!</a:t>
            </a:r>
            <a:endParaRPr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2013-06-18T16:37:55Z</dcterms:created>
  <dc:creator>Nowka, Kevin J.</dc:creator>
</cp:coreProperties>
</file>